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Override1.xml" ContentType="application/vnd.openxmlformats-officedocument.themeOverride+xml"/>
  <Override PartName="/ppt/theme/themeOverride2.xml" ContentType="application/vnd.openxmlformats-officedocument.themeOverride+xml"/>
  <Override PartName="/ppt/theme/themeOverride3.xml" ContentType="application/vnd.openxmlformats-officedocument.themeOverride+xml"/>
  <Override PartName="/ppt/theme/themeOverride4.xml" ContentType="application/vnd.openxmlformats-officedocument.themeOverride+xml"/>
  <Override PartName="/ppt/theme/themeOverride5.xml" ContentType="application/vnd.openxmlformats-officedocument.themeOverride+xml"/>
  <Override PartName="/ppt/theme/themeOverride6.xml" ContentType="application/vnd.openxmlformats-officedocument.themeOverride+xml"/>
  <Override PartName="/ppt/theme/themeOverride7.xml" ContentType="application/vnd.openxmlformats-officedocument.themeOverride+xml"/>
  <Override PartName="/ppt/theme/themeOverride8.xml" ContentType="application/vnd.openxmlformats-officedocument.themeOverride+xml"/>
  <Override PartName="/ppt/theme/themeOverride9.xml" ContentType="application/vnd.openxmlformats-officedocument.themeOverride+xml"/>
  <Override PartName="/ppt/theme/themeOverride10.xml" ContentType="application/vnd.openxmlformats-officedocument.themeOverride+xml"/>
  <Override PartName="/ppt/theme/themeOverride11.xml" ContentType="application/vnd.openxmlformats-officedocument.themeOverride+xml"/>
  <Override PartName="/ppt/theme/themeOverride12.xml" ContentType="application/vnd.openxmlformats-officedocument.themeOverride+xml"/>
  <Override PartName="/ppt/theme/themeOverride13.xml" ContentType="application/vnd.openxmlformats-officedocument.themeOverride+xml"/>
  <Override PartName="/ppt/theme/themeOverride14.xml" ContentType="application/vnd.openxmlformats-officedocument.themeOverride+xml"/>
  <Override PartName="/ppt/theme/themeOverride15.xml" ContentType="application/vnd.openxmlformats-officedocument.themeOverride+xml"/>
  <Override PartName="/ppt/changesInfos/changesInfo1.xml" ContentType="application/vnd.ms-powerpoint.changes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70" r:id="rId13"/>
    <p:sldId id="271" r:id="rId14"/>
    <p:sldId id="267" r:id="rId15"/>
    <p:sldId id="268" r:id="rId16"/>
    <p:sldId id="269" r:id="rId17"/>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987" autoAdjust="0"/>
    <p:restoredTop sz="94237" autoAdjust="0"/>
  </p:normalViewPr>
  <p:slideViewPr>
    <p:cSldViewPr snapToGrid="0">
      <p:cViewPr varScale="1">
        <p:scale>
          <a:sx n="90" d="100"/>
          <a:sy n="90" d="100"/>
        </p:scale>
        <p:origin x="355" y="6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presProps" Target="presProps.xml"/><Relationship Id="rId3" Type="http://schemas.openxmlformats.org/officeDocument/2006/relationships/slide" Target="slides/slide2.xml"/><Relationship Id="rId21" Type="http://schemas.openxmlformats.org/officeDocument/2006/relationships/tableStyles" Target="tableStyle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microsoft.com/office/2016/11/relationships/changesInfo" Target="changesInfos/changesInfo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Ashutosh Giri" userId="a7da8857590a0571" providerId="LiveId" clId="{1378D6FC-057C-4069-9FC9-4953B8C009A0}"/>
    <pc:docChg chg="undo custSel addSld delSld modSld">
      <pc:chgData name="Ashutosh Giri" userId="a7da8857590a0571" providerId="LiveId" clId="{1378D6FC-057C-4069-9FC9-4953B8C009A0}" dt="2026-10-14T09:11:37.024" v="630" actId="27636"/>
      <pc:docMkLst>
        <pc:docMk/>
      </pc:docMkLst>
      <pc:sldChg chg="addSp delSp modSp mod">
        <pc:chgData name="Ashutosh Giri" userId="a7da8857590a0571" providerId="LiveId" clId="{1378D6FC-057C-4069-9FC9-4953B8C009A0}" dt="2026-09-22T11:23:07.403" v="169" actId="1076"/>
        <pc:sldMkLst>
          <pc:docMk/>
          <pc:sldMk cId="2772023373" sldId="257"/>
        </pc:sldMkLst>
        <pc:spChg chg="mod">
          <ac:chgData name="Ashutosh Giri" userId="a7da8857590a0571" providerId="LiveId" clId="{1378D6FC-057C-4069-9FC9-4953B8C009A0}" dt="2026-09-22T11:01:06.923" v="40" actId="113"/>
          <ac:spMkLst>
            <pc:docMk/>
            <pc:sldMk cId="2772023373" sldId="257"/>
            <ac:spMk id="2" creationId="{BFDA06F6-CF58-596E-3854-FB24606B8023}"/>
          </ac:spMkLst>
        </pc:spChg>
        <pc:spChg chg="mod">
          <ac:chgData name="Ashutosh Giri" userId="a7da8857590a0571" providerId="LiveId" clId="{1378D6FC-057C-4069-9FC9-4953B8C009A0}" dt="2026-09-22T11:23:07.403" v="169" actId="1076"/>
          <ac:spMkLst>
            <pc:docMk/>
            <pc:sldMk cId="2772023373" sldId="257"/>
            <ac:spMk id="3" creationId="{E0234CFE-10AF-33BA-32FD-3D33FA735F87}"/>
          </ac:spMkLst>
        </pc:spChg>
        <pc:picChg chg="add mod">
          <ac:chgData name="Ashutosh Giri" userId="a7da8857590a0571" providerId="LiveId" clId="{1378D6FC-057C-4069-9FC9-4953B8C009A0}" dt="2026-09-22T11:05:26.457" v="82" actId="1076"/>
          <ac:picMkLst>
            <pc:docMk/>
            <pc:sldMk cId="2772023373" sldId="257"/>
            <ac:picMk id="7" creationId="{DA730123-861E-CFBF-7FE6-1B334C750462}"/>
          </ac:picMkLst>
        </pc:picChg>
      </pc:sldChg>
      <pc:sldChg chg="addSp delSp modSp mod">
        <pc:chgData name="Ashutosh Giri" userId="a7da8857590a0571" providerId="LiveId" clId="{1378D6FC-057C-4069-9FC9-4953B8C009A0}" dt="2026-09-22T11:04:57.421" v="78" actId="1076"/>
        <pc:sldMkLst>
          <pc:docMk/>
          <pc:sldMk cId="370776149" sldId="258"/>
        </pc:sldMkLst>
        <pc:spChg chg="mod">
          <ac:chgData name="Ashutosh Giri" userId="a7da8857590a0571" providerId="LiveId" clId="{1378D6FC-057C-4069-9FC9-4953B8C009A0}" dt="2026-09-22T11:03:09.716" v="69" actId="403"/>
          <ac:spMkLst>
            <pc:docMk/>
            <pc:sldMk cId="370776149" sldId="258"/>
            <ac:spMk id="2" creationId="{A78F3AEC-DB97-AFA3-C858-5EB903D1FA23}"/>
          </ac:spMkLst>
        </pc:spChg>
        <pc:picChg chg="add mod ord">
          <ac:chgData name="Ashutosh Giri" userId="a7da8857590a0571" providerId="LiveId" clId="{1378D6FC-057C-4069-9FC9-4953B8C009A0}" dt="2026-09-22T11:04:30.271" v="74" actId="14100"/>
          <ac:picMkLst>
            <pc:docMk/>
            <pc:sldMk cId="370776149" sldId="258"/>
            <ac:picMk id="5" creationId="{0F7E190B-63AC-6E72-ADE7-1FC139817B6C}"/>
          </ac:picMkLst>
        </pc:picChg>
        <pc:picChg chg="add mod">
          <ac:chgData name="Ashutosh Giri" userId="a7da8857590a0571" providerId="LiveId" clId="{1378D6FC-057C-4069-9FC9-4953B8C009A0}" dt="2026-09-22T11:04:57.421" v="78" actId="1076"/>
          <ac:picMkLst>
            <pc:docMk/>
            <pc:sldMk cId="370776149" sldId="258"/>
            <ac:picMk id="7" creationId="{303BC9A5-5CB8-250A-63A9-D30DC03C6092}"/>
          </ac:picMkLst>
        </pc:picChg>
      </pc:sldChg>
      <pc:sldChg chg="addSp modSp mod">
        <pc:chgData name="Ashutosh Giri" userId="a7da8857590a0571" providerId="LiveId" clId="{1378D6FC-057C-4069-9FC9-4953B8C009A0}" dt="2026-09-22T11:23:19.977" v="170" actId="255"/>
        <pc:sldMkLst>
          <pc:docMk/>
          <pc:sldMk cId="49194963" sldId="259"/>
        </pc:sldMkLst>
        <pc:spChg chg="mod">
          <ac:chgData name="Ashutosh Giri" userId="a7da8857590a0571" providerId="LiveId" clId="{1378D6FC-057C-4069-9FC9-4953B8C009A0}" dt="2026-09-22T11:06:16.999" v="102" actId="113"/>
          <ac:spMkLst>
            <pc:docMk/>
            <pc:sldMk cId="49194963" sldId="259"/>
            <ac:spMk id="2" creationId="{7AFE9A0F-810A-9571-1D19-9943805AA868}"/>
          </ac:spMkLst>
        </pc:spChg>
        <pc:spChg chg="mod">
          <ac:chgData name="Ashutosh Giri" userId="a7da8857590a0571" providerId="LiveId" clId="{1378D6FC-057C-4069-9FC9-4953B8C009A0}" dt="2026-09-22T11:23:19.977" v="170" actId="255"/>
          <ac:spMkLst>
            <pc:docMk/>
            <pc:sldMk cId="49194963" sldId="259"/>
            <ac:spMk id="3" creationId="{452CABF9-667E-ABB5-0753-8F1BCD8A74FA}"/>
          </ac:spMkLst>
        </pc:spChg>
        <pc:picChg chg="add">
          <ac:chgData name="Ashutosh Giri" userId="a7da8857590a0571" providerId="LiveId" clId="{1378D6FC-057C-4069-9FC9-4953B8C009A0}" dt="2026-09-22T11:11:59.697" v="137" actId="22"/>
          <ac:picMkLst>
            <pc:docMk/>
            <pc:sldMk cId="49194963" sldId="259"/>
            <ac:picMk id="5" creationId="{9DF37EE6-0129-DA6B-2F11-7548B36689E1}"/>
          </ac:picMkLst>
        </pc:picChg>
      </pc:sldChg>
      <pc:sldChg chg="addSp delSp modSp mod">
        <pc:chgData name="Ashutosh Giri" userId="a7da8857590a0571" providerId="LiveId" clId="{1378D6FC-057C-4069-9FC9-4953B8C009A0}" dt="2026-09-22T12:50:09.207" v="565" actId="1076"/>
        <pc:sldMkLst>
          <pc:docMk/>
          <pc:sldMk cId="1620501029" sldId="260"/>
        </pc:sldMkLst>
        <pc:spChg chg="mod">
          <ac:chgData name="Ashutosh Giri" userId="a7da8857590a0571" providerId="LiveId" clId="{1378D6FC-057C-4069-9FC9-4953B8C009A0}" dt="2026-09-22T11:19:33.029" v="151" actId="113"/>
          <ac:spMkLst>
            <pc:docMk/>
            <pc:sldMk cId="1620501029" sldId="260"/>
            <ac:spMk id="2" creationId="{D56BF100-7405-D225-DC34-D08D70B6AD7C}"/>
          </ac:spMkLst>
        </pc:spChg>
        <pc:spChg chg="add mod">
          <ac:chgData name="Ashutosh Giri" userId="a7da8857590a0571" providerId="LiveId" clId="{1378D6FC-057C-4069-9FC9-4953B8C009A0}" dt="2026-09-22T11:24:08.201" v="175" actId="122"/>
          <ac:spMkLst>
            <pc:docMk/>
            <pc:sldMk cId="1620501029" sldId="260"/>
            <ac:spMk id="7" creationId="{AADCDA35-3E85-F000-62DC-02EFFE19B64E}"/>
          </ac:spMkLst>
        </pc:spChg>
        <pc:picChg chg="add mod ord">
          <ac:chgData name="Ashutosh Giri" userId="a7da8857590a0571" providerId="LiveId" clId="{1378D6FC-057C-4069-9FC9-4953B8C009A0}" dt="2026-09-22T11:20:57.444" v="154" actId="1076"/>
          <ac:picMkLst>
            <pc:docMk/>
            <pc:sldMk cId="1620501029" sldId="260"/>
            <ac:picMk id="5" creationId="{A55C2F5B-1C64-98CF-66B9-46551B2D3F8D}"/>
          </ac:picMkLst>
        </pc:picChg>
        <pc:picChg chg="add mod">
          <ac:chgData name="Ashutosh Giri" userId="a7da8857590a0571" providerId="LiveId" clId="{1378D6FC-057C-4069-9FC9-4953B8C009A0}" dt="2026-09-22T12:50:09.207" v="565" actId="1076"/>
          <ac:picMkLst>
            <pc:docMk/>
            <pc:sldMk cId="1620501029" sldId="260"/>
            <ac:picMk id="9" creationId="{E6E2312A-3136-00BB-F84D-A8D23E162BA9}"/>
          </ac:picMkLst>
        </pc:picChg>
      </pc:sldChg>
      <pc:sldChg chg="addSp delSp modSp mod">
        <pc:chgData name="Ashutosh Giri" userId="a7da8857590a0571" providerId="LiveId" clId="{1378D6FC-057C-4069-9FC9-4953B8C009A0}" dt="2026-09-22T12:50:15.721" v="566" actId="22"/>
        <pc:sldMkLst>
          <pc:docMk/>
          <pc:sldMk cId="1464387963" sldId="261"/>
        </pc:sldMkLst>
        <pc:spChg chg="mod">
          <ac:chgData name="Ashutosh Giri" userId="a7da8857590a0571" providerId="LiveId" clId="{1378D6FC-057C-4069-9FC9-4953B8C009A0}" dt="2026-09-22T11:25:37.209" v="180" actId="113"/>
          <ac:spMkLst>
            <pc:docMk/>
            <pc:sldMk cId="1464387963" sldId="261"/>
            <ac:spMk id="2" creationId="{36DB1891-7654-1C90-17AA-A48401C3F8D9}"/>
          </ac:spMkLst>
        </pc:spChg>
        <pc:spChg chg="add mod">
          <ac:chgData name="Ashutosh Giri" userId="a7da8857590a0571" providerId="LiveId" clId="{1378D6FC-057C-4069-9FC9-4953B8C009A0}" dt="2026-09-22T11:56:34.660" v="325" actId="1076"/>
          <ac:spMkLst>
            <pc:docMk/>
            <pc:sldMk cId="1464387963" sldId="261"/>
            <ac:spMk id="7" creationId="{146CC5A7-818C-90D1-2A6C-D4BDDC76E1E8}"/>
          </ac:spMkLst>
        </pc:spChg>
        <pc:picChg chg="add mod ord">
          <ac:chgData name="Ashutosh Giri" userId="a7da8857590a0571" providerId="LiveId" clId="{1378D6FC-057C-4069-9FC9-4953B8C009A0}" dt="2026-09-22T11:27:43.246" v="186" actId="688"/>
          <ac:picMkLst>
            <pc:docMk/>
            <pc:sldMk cId="1464387963" sldId="261"/>
            <ac:picMk id="5" creationId="{AD38B4E3-5EB0-A8D4-9239-4325FB534884}"/>
          </ac:picMkLst>
        </pc:picChg>
        <pc:picChg chg="add">
          <ac:chgData name="Ashutosh Giri" userId="a7da8857590a0571" providerId="LiveId" clId="{1378D6FC-057C-4069-9FC9-4953B8C009A0}" dt="2026-09-22T12:50:15.721" v="566" actId="22"/>
          <ac:picMkLst>
            <pc:docMk/>
            <pc:sldMk cId="1464387963" sldId="261"/>
            <ac:picMk id="9" creationId="{8A003A9B-B455-12EC-8360-C54551C26380}"/>
          </ac:picMkLst>
        </pc:picChg>
      </pc:sldChg>
      <pc:sldChg chg="addSp delSp modSp mod">
        <pc:chgData name="Ashutosh Giri" userId="a7da8857590a0571" providerId="LiveId" clId="{1378D6FC-057C-4069-9FC9-4953B8C009A0}" dt="2026-09-22T12:50:21.785" v="567" actId="22"/>
        <pc:sldMkLst>
          <pc:docMk/>
          <pc:sldMk cId="221730104" sldId="262"/>
        </pc:sldMkLst>
        <pc:spChg chg="mod">
          <ac:chgData name="Ashutosh Giri" userId="a7da8857590a0571" providerId="LiveId" clId="{1378D6FC-057C-4069-9FC9-4953B8C009A0}" dt="2026-09-22T11:33:47.037" v="242" actId="113"/>
          <ac:spMkLst>
            <pc:docMk/>
            <pc:sldMk cId="221730104" sldId="262"/>
            <ac:spMk id="2" creationId="{2AE00817-1E1E-ECF8-A04E-05A55A90F0AE}"/>
          </ac:spMkLst>
        </pc:spChg>
        <pc:spChg chg="add mod">
          <ac:chgData name="Ashutosh Giri" userId="a7da8857590a0571" providerId="LiveId" clId="{1378D6FC-057C-4069-9FC9-4953B8C009A0}" dt="2026-09-22T11:57:07.574" v="330" actId="1076"/>
          <ac:spMkLst>
            <pc:docMk/>
            <pc:sldMk cId="221730104" sldId="262"/>
            <ac:spMk id="7" creationId="{82765779-1B77-6F6E-F46F-F7D33F66C7B5}"/>
          </ac:spMkLst>
        </pc:spChg>
        <pc:picChg chg="add mod ord">
          <ac:chgData name="Ashutosh Giri" userId="a7da8857590a0571" providerId="LiveId" clId="{1378D6FC-057C-4069-9FC9-4953B8C009A0}" dt="2026-09-22T11:36:20.095" v="246" actId="14100"/>
          <ac:picMkLst>
            <pc:docMk/>
            <pc:sldMk cId="221730104" sldId="262"/>
            <ac:picMk id="5" creationId="{56D7A9E9-82BE-B977-51D8-147EB5245973}"/>
          </ac:picMkLst>
        </pc:picChg>
        <pc:picChg chg="add">
          <ac:chgData name="Ashutosh Giri" userId="a7da8857590a0571" providerId="LiveId" clId="{1378D6FC-057C-4069-9FC9-4953B8C009A0}" dt="2026-09-22T12:50:21.785" v="567" actId="22"/>
          <ac:picMkLst>
            <pc:docMk/>
            <pc:sldMk cId="221730104" sldId="262"/>
            <ac:picMk id="9" creationId="{144A75BF-C6B5-2675-78AC-19FD4D2BE381}"/>
          </ac:picMkLst>
        </pc:picChg>
      </pc:sldChg>
      <pc:sldChg chg="addSp delSp modSp mod">
        <pc:chgData name="Ashutosh Giri" userId="a7da8857590a0571" providerId="LiveId" clId="{1378D6FC-057C-4069-9FC9-4953B8C009A0}" dt="2026-09-22T12:50:27.457" v="568" actId="22"/>
        <pc:sldMkLst>
          <pc:docMk/>
          <pc:sldMk cId="433035402" sldId="263"/>
        </pc:sldMkLst>
        <pc:spChg chg="mod">
          <ac:chgData name="Ashutosh Giri" userId="a7da8857590a0571" providerId="LiveId" clId="{1378D6FC-057C-4069-9FC9-4953B8C009A0}" dt="2026-09-22T11:47:21.076" v="299" actId="1076"/>
          <ac:spMkLst>
            <pc:docMk/>
            <pc:sldMk cId="433035402" sldId="263"/>
            <ac:spMk id="2" creationId="{ACA6AB1C-89C4-F524-5346-AB46E804A60B}"/>
          </ac:spMkLst>
        </pc:spChg>
        <pc:spChg chg="add mod">
          <ac:chgData name="Ashutosh Giri" userId="a7da8857590a0571" providerId="LiveId" clId="{1378D6FC-057C-4069-9FC9-4953B8C009A0}" dt="2026-09-22T11:57:46.740" v="336" actId="1076"/>
          <ac:spMkLst>
            <pc:docMk/>
            <pc:sldMk cId="433035402" sldId="263"/>
            <ac:spMk id="9" creationId="{69C48352-55AE-D2F1-D2AE-EE512C7217A0}"/>
          </ac:spMkLst>
        </pc:spChg>
        <pc:picChg chg="add mod ord">
          <ac:chgData name="Ashutosh Giri" userId="a7da8857590a0571" providerId="LiveId" clId="{1378D6FC-057C-4069-9FC9-4953B8C009A0}" dt="2026-09-22T11:52:35.784" v="309" actId="14100"/>
          <ac:picMkLst>
            <pc:docMk/>
            <pc:sldMk cId="433035402" sldId="263"/>
            <ac:picMk id="5" creationId="{CD29C7B9-2715-F920-8843-31BA475D29F6}"/>
          </ac:picMkLst>
        </pc:picChg>
        <pc:picChg chg="add mod">
          <ac:chgData name="Ashutosh Giri" userId="a7da8857590a0571" providerId="LiveId" clId="{1378D6FC-057C-4069-9FC9-4953B8C009A0}" dt="2026-09-22T11:52:20.934" v="307" actId="1076"/>
          <ac:picMkLst>
            <pc:docMk/>
            <pc:sldMk cId="433035402" sldId="263"/>
            <ac:picMk id="7" creationId="{BFA3870E-9FA0-01DF-DF5C-3BEE45A0CE1E}"/>
          </ac:picMkLst>
        </pc:picChg>
        <pc:picChg chg="add">
          <ac:chgData name="Ashutosh Giri" userId="a7da8857590a0571" providerId="LiveId" clId="{1378D6FC-057C-4069-9FC9-4953B8C009A0}" dt="2026-09-22T12:50:27.457" v="568" actId="22"/>
          <ac:picMkLst>
            <pc:docMk/>
            <pc:sldMk cId="433035402" sldId="263"/>
            <ac:picMk id="11" creationId="{F155E2C1-B705-6311-6F26-4B2A11DB761C}"/>
          </ac:picMkLst>
        </pc:picChg>
      </pc:sldChg>
      <pc:sldChg chg="addSp delSp modSp mod">
        <pc:chgData name="Ashutosh Giri" userId="a7da8857590a0571" providerId="LiveId" clId="{1378D6FC-057C-4069-9FC9-4953B8C009A0}" dt="2026-09-22T12:50:32.814" v="569" actId="22"/>
        <pc:sldMkLst>
          <pc:docMk/>
          <pc:sldMk cId="537056318" sldId="264"/>
        </pc:sldMkLst>
        <pc:spChg chg="mod">
          <ac:chgData name="Ashutosh Giri" userId="a7da8857590a0571" providerId="LiveId" clId="{1378D6FC-057C-4069-9FC9-4953B8C009A0}" dt="2026-09-22T11:59:04.658" v="342" actId="1076"/>
          <ac:spMkLst>
            <pc:docMk/>
            <pc:sldMk cId="537056318" sldId="264"/>
            <ac:spMk id="2" creationId="{12C2C4E2-C451-EDD3-4B68-ED7E8D9B2F06}"/>
          </ac:spMkLst>
        </pc:spChg>
        <pc:spChg chg="add mod">
          <ac:chgData name="Ashutosh Giri" userId="a7da8857590a0571" providerId="LiveId" clId="{1378D6FC-057C-4069-9FC9-4953B8C009A0}" dt="2026-09-22T12:02:56.418" v="361" actId="1076"/>
          <ac:spMkLst>
            <pc:docMk/>
            <pc:sldMk cId="537056318" sldId="264"/>
            <ac:spMk id="7" creationId="{0715F95D-05BC-5D9D-9D41-AD924663CC80}"/>
          </ac:spMkLst>
        </pc:spChg>
        <pc:picChg chg="add mod ord">
          <ac:chgData name="Ashutosh Giri" userId="a7da8857590a0571" providerId="LiveId" clId="{1378D6FC-057C-4069-9FC9-4953B8C009A0}" dt="2026-09-22T12:01:19.908" v="345" actId="14100"/>
          <ac:picMkLst>
            <pc:docMk/>
            <pc:sldMk cId="537056318" sldId="264"/>
            <ac:picMk id="5" creationId="{08CD4374-2E2F-9F82-E3D4-DF7E298D87A9}"/>
          </ac:picMkLst>
        </pc:picChg>
        <pc:picChg chg="add">
          <ac:chgData name="Ashutosh Giri" userId="a7da8857590a0571" providerId="LiveId" clId="{1378D6FC-057C-4069-9FC9-4953B8C009A0}" dt="2026-09-22T12:50:32.814" v="569" actId="22"/>
          <ac:picMkLst>
            <pc:docMk/>
            <pc:sldMk cId="537056318" sldId="264"/>
            <ac:picMk id="9" creationId="{ABD1165E-7DF2-2BD6-7CEA-99AA459F3642}"/>
          </ac:picMkLst>
        </pc:picChg>
      </pc:sldChg>
      <pc:sldChg chg="addSp delSp modSp mod">
        <pc:chgData name="Ashutosh Giri" userId="a7da8857590a0571" providerId="LiveId" clId="{1378D6FC-057C-4069-9FC9-4953B8C009A0}" dt="2026-09-22T12:50:38.797" v="570" actId="22"/>
        <pc:sldMkLst>
          <pc:docMk/>
          <pc:sldMk cId="768472214" sldId="265"/>
        </pc:sldMkLst>
        <pc:spChg chg="mod">
          <ac:chgData name="Ashutosh Giri" userId="a7da8857590a0571" providerId="LiveId" clId="{1378D6FC-057C-4069-9FC9-4953B8C009A0}" dt="2026-09-22T12:03:52.477" v="366" actId="2711"/>
          <ac:spMkLst>
            <pc:docMk/>
            <pc:sldMk cId="768472214" sldId="265"/>
            <ac:spMk id="2" creationId="{0573DCC8-EC85-F4FA-1E99-F0D031D54DAE}"/>
          </ac:spMkLst>
        </pc:spChg>
        <pc:spChg chg="add mod">
          <ac:chgData name="Ashutosh Giri" userId="a7da8857590a0571" providerId="LiveId" clId="{1378D6FC-057C-4069-9FC9-4953B8C009A0}" dt="2026-09-22T12:07:04.488" v="385" actId="1076"/>
          <ac:spMkLst>
            <pc:docMk/>
            <pc:sldMk cId="768472214" sldId="265"/>
            <ac:spMk id="7" creationId="{54FCFC6E-0140-3C70-E144-2799328930C0}"/>
          </ac:spMkLst>
        </pc:spChg>
        <pc:picChg chg="add mod ord">
          <ac:chgData name="Ashutosh Giri" userId="a7da8857590a0571" providerId="LiveId" clId="{1378D6FC-057C-4069-9FC9-4953B8C009A0}" dt="2026-09-22T12:07:00.282" v="384" actId="1076"/>
          <ac:picMkLst>
            <pc:docMk/>
            <pc:sldMk cId="768472214" sldId="265"/>
            <ac:picMk id="5" creationId="{B6C9B1F8-3166-510E-6A8A-437DF49762A0}"/>
          </ac:picMkLst>
        </pc:picChg>
        <pc:picChg chg="add">
          <ac:chgData name="Ashutosh Giri" userId="a7da8857590a0571" providerId="LiveId" clId="{1378D6FC-057C-4069-9FC9-4953B8C009A0}" dt="2026-09-22T12:50:38.797" v="570" actId="22"/>
          <ac:picMkLst>
            <pc:docMk/>
            <pc:sldMk cId="768472214" sldId="265"/>
            <ac:picMk id="9" creationId="{0D7F9FE7-C120-438C-7253-F81CE49F6BE5}"/>
          </ac:picMkLst>
        </pc:picChg>
      </pc:sldChg>
      <pc:sldChg chg="addSp delSp modSp mod">
        <pc:chgData name="Ashutosh Giri" userId="a7da8857590a0571" providerId="LiveId" clId="{1378D6FC-057C-4069-9FC9-4953B8C009A0}" dt="2026-10-14T08:58:54.793" v="583" actId="14100"/>
        <pc:sldMkLst>
          <pc:docMk/>
          <pc:sldMk cId="1796398621" sldId="266"/>
        </pc:sldMkLst>
        <pc:spChg chg="mod">
          <ac:chgData name="Ashutosh Giri" userId="a7da8857590a0571" providerId="LiveId" clId="{1378D6FC-057C-4069-9FC9-4953B8C009A0}" dt="2026-10-14T08:58:00.557" v="579"/>
          <ac:spMkLst>
            <pc:docMk/>
            <pc:sldMk cId="1796398621" sldId="266"/>
            <ac:spMk id="2" creationId="{A74505CC-2B36-B008-6151-A987712F1860}"/>
          </ac:spMkLst>
        </pc:spChg>
        <pc:spChg chg="add del mod">
          <ac:chgData name="Ashutosh Giri" userId="a7da8857590a0571" providerId="LiveId" clId="{1378D6FC-057C-4069-9FC9-4953B8C009A0}" dt="2026-10-14T08:58:41.898" v="580" actId="22"/>
          <ac:spMkLst>
            <pc:docMk/>
            <pc:sldMk cId="1796398621" sldId="266"/>
            <ac:spMk id="4" creationId="{780E18EC-4F8B-346A-9510-7E49BE1138C0}"/>
          </ac:spMkLst>
        </pc:spChg>
        <pc:picChg chg="add del mod ord">
          <ac:chgData name="Ashutosh Giri" userId="a7da8857590a0571" providerId="LiveId" clId="{1378D6FC-057C-4069-9FC9-4953B8C009A0}" dt="2026-10-14T08:57:28.837" v="575" actId="478"/>
          <ac:picMkLst>
            <pc:docMk/>
            <pc:sldMk cId="1796398621" sldId="266"/>
            <ac:picMk id="5" creationId="{B29F2B39-4360-AB11-06C3-F7F1DE5D5443}"/>
          </ac:picMkLst>
        </pc:picChg>
        <pc:picChg chg="add">
          <ac:chgData name="Ashutosh Giri" userId="a7da8857590a0571" providerId="LiveId" clId="{1378D6FC-057C-4069-9FC9-4953B8C009A0}" dt="2026-09-22T12:50:43.173" v="571" actId="22"/>
          <ac:picMkLst>
            <pc:docMk/>
            <pc:sldMk cId="1796398621" sldId="266"/>
            <ac:picMk id="7" creationId="{B455CB98-9118-90F4-D6EE-F557A1C824C2}"/>
          </ac:picMkLst>
        </pc:picChg>
        <pc:picChg chg="add mod ord">
          <ac:chgData name="Ashutosh Giri" userId="a7da8857590a0571" providerId="LiveId" clId="{1378D6FC-057C-4069-9FC9-4953B8C009A0}" dt="2026-10-14T08:58:54.793" v="583" actId="14100"/>
          <ac:picMkLst>
            <pc:docMk/>
            <pc:sldMk cId="1796398621" sldId="266"/>
            <ac:picMk id="8" creationId="{45E733BB-3250-0393-4032-2F493BE69F2A}"/>
          </ac:picMkLst>
        </pc:picChg>
      </pc:sldChg>
      <pc:sldChg chg="addSp modSp mod">
        <pc:chgData name="Ashutosh Giri" userId="a7da8857590a0571" providerId="LiveId" clId="{1378D6FC-057C-4069-9FC9-4953B8C009A0}" dt="2026-10-14T09:09:12.708" v="617" actId="1076"/>
        <pc:sldMkLst>
          <pc:docMk/>
          <pc:sldMk cId="3919857650" sldId="267"/>
        </pc:sldMkLst>
        <pc:spChg chg="mod">
          <ac:chgData name="Ashutosh Giri" userId="a7da8857590a0571" providerId="LiveId" clId="{1378D6FC-057C-4069-9FC9-4953B8C009A0}" dt="2026-10-14T09:08:36.453" v="613" actId="1076"/>
          <ac:spMkLst>
            <pc:docMk/>
            <pc:sldMk cId="3919857650" sldId="267"/>
            <ac:spMk id="2" creationId="{914929E3-D274-DE4E-22AF-6670C08C41A5}"/>
          </ac:spMkLst>
        </pc:spChg>
        <pc:spChg chg="mod">
          <ac:chgData name="Ashutosh Giri" userId="a7da8857590a0571" providerId="LiveId" clId="{1378D6FC-057C-4069-9FC9-4953B8C009A0}" dt="2026-10-14T09:09:12.708" v="617" actId="1076"/>
          <ac:spMkLst>
            <pc:docMk/>
            <pc:sldMk cId="3919857650" sldId="267"/>
            <ac:spMk id="3" creationId="{37315CCF-FB3C-9574-C5B3-FD693DCFBDF7}"/>
          </ac:spMkLst>
        </pc:spChg>
        <pc:picChg chg="add">
          <ac:chgData name="Ashutosh Giri" userId="a7da8857590a0571" providerId="LiveId" clId="{1378D6FC-057C-4069-9FC9-4953B8C009A0}" dt="2026-09-22T12:50:46.698" v="572" actId="22"/>
          <ac:picMkLst>
            <pc:docMk/>
            <pc:sldMk cId="3919857650" sldId="267"/>
            <ac:picMk id="5" creationId="{3CC7036B-1049-6A78-67B2-9E293CA7F4BA}"/>
          </ac:picMkLst>
        </pc:picChg>
      </pc:sldChg>
      <pc:sldChg chg="addSp modSp mod">
        <pc:chgData name="Ashutosh Giri" userId="a7da8857590a0571" providerId="LiveId" clId="{1378D6FC-057C-4069-9FC9-4953B8C009A0}" dt="2026-10-14T09:11:37.024" v="630" actId="27636"/>
        <pc:sldMkLst>
          <pc:docMk/>
          <pc:sldMk cId="2975180487" sldId="268"/>
        </pc:sldMkLst>
        <pc:spChg chg="mod">
          <ac:chgData name="Ashutosh Giri" userId="a7da8857590a0571" providerId="LiveId" clId="{1378D6FC-057C-4069-9FC9-4953B8C009A0}" dt="2026-10-14T09:11:32.532" v="628" actId="1076"/>
          <ac:spMkLst>
            <pc:docMk/>
            <pc:sldMk cId="2975180487" sldId="268"/>
            <ac:spMk id="2" creationId="{62FB827B-40FF-716D-A3AF-9995F0DFD611}"/>
          </ac:spMkLst>
        </pc:spChg>
        <pc:spChg chg="mod">
          <ac:chgData name="Ashutosh Giri" userId="a7da8857590a0571" providerId="LiveId" clId="{1378D6FC-057C-4069-9FC9-4953B8C009A0}" dt="2026-10-14T09:11:37.024" v="630" actId="27636"/>
          <ac:spMkLst>
            <pc:docMk/>
            <pc:sldMk cId="2975180487" sldId="268"/>
            <ac:spMk id="3" creationId="{5FD3C7C2-9DC8-46C0-DE5B-75211F52AA2C}"/>
          </ac:spMkLst>
        </pc:spChg>
        <pc:picChg chg="add">
          <ac:chgData name="Ashutosh Giri" userId="a7da8857590a0571" providerId="LiveId" clId="{1378D6FC-057C-4069-9FC9-4953B8C009A0}" dt="2026-09-22T12:50:51.459" v="573" actId="22"/>
          <ac:picMkLst>
            <pc:docMk/>
            <pc:sldMk cId="2975180487" sldId="268"/>
            <ac:picMk id="5" creationId="{564C7316-C2DF-E2B3-4514-342EF403EC73}"/>
          </ac:picMkLst>
        </pc:picChg>
      </pc:sldChg>
      <pc:sldChg chg="addSp delSp modSp mod">
        <pc:chgData name="Ashutosh Giri" userId="a7da8857590a0571" providerId="LiveId" clId="{1378D6FC-057C-4069-9FC9-4953B8C009A0}" dt="2026-09-22T12:50:55.377" v="574" actId="22"/>
        <pc:sldMkLst>
          <pc:docMk/>
          <pc:sldMk cId="583854182" sldId="269"/>
        </pc:sldMkLst>
        <pc:spChg chg="mod">
          <ac:chgData name="Ashutosh Giri" userId="a7da8857590a0571" providerId="LiveId" clId="{1378D6FC-057C-4069-9FC9-4953B8C009A0}" dt="2026-09-22T12:49:27.947" v="556" actId="1076"/>
          <ac:spMkLst>
            <pc:docMk/>
            <pc:sldMk cId="583854182" sldId="269"/>
            <ac:spMk id="2" creationId="{2739CFA7-19E0-615D-A0B8-4F0290E0E6EC}"/>
          </ac:spMkLst>
        </pc:spChg>
        <pc:picChg chg="add">
          <ac:chgData name="Ashutosh Giri" userId="a7da8857590a0571" providerId="LiveId" clId="{1378D6FC-057C-4069-9FC9-4953B8C009A0}" dt="2026-09-22T12:50:55.377" v="574" actId="22"/>
          <ac:picMkLst>
            <pc:docMk/>
            <pc:sldMk cId="583854182" sldId="269"/>
            <ac:picMk id="13" creationId="{1B266733-C70C-0724-6DEB-63437FAD4D14}"/>
          </ac:picMkLst>
        </pc:picChg>
      </pc:sldChg>
      <pc:sldChg chg="addSp delSp modSp new mod setBg">
        <pc:chgData name="Ashutosh Giri" userId="a7da8857590a0571" providerId="LiveId" clId="{1378D6FC-057C-4069-9FC9-4953B8C009A0}" dt="2026-10-14T09:01:34.936" v="596" actId="22"/>
        <pc:sldMkLst>
          <pc:docMk/>
          <pc:sldMk cId="3553549197" sldId="270"/>
        </pc:sldMkLst>
        <pc:spChg chg="mod">
          <ac:chgData name="Ashutosh Giri" userId="a7da8857590a0571" providerId="LiveId" clId="{1378D6FC-057C-4069-9FC9-4953B8C009A0}" dt="2026-10-14T09:01:21.285" v="595" actId="404"/>
          <ac:spMkLst>
            <pc:docMk/>
            <pc:sldMk cId="3553549197" sldId="270"/>
            <ac:spMk id="2" creationId="{93C51568-EF57-060E-9882-DD90144A7BBF}"/>
          </ac:spMkLst>
        </pc:spChg>
        <pc:spChg chg="del mod">
          <ac:chgData name="Ashutosh Giri" userId="a7da8857590a0571" providerId="LiveId" clId="{1378D6FC-057C-4069-9FC9-4953B8C009A0}" dt="2026-10-14T09:00:18.893" v="589" actId="22"/>
          <ac:spMkLst>
            <pc:docMk/>
            <pc:sldMk cId="3553549197" sldId="270"/>
            <ac:spMk id="3" creationId="{2569FE96-104D-F62D-2ED5-DE3791E1D114}"/>
          </ac:spMkLst>
        </pc:spChg>
        <pc:picChg chg="add mod ord">
          <ac:chgData name="Ashutosh Giri" userId="a7da8857590a0571" providerId="LiveId" clId="{1378D6FC-057C-4069-9FC9-4953B8C009A0}" dt="2026-10-14T09:00:31.201" v="592" actId="14100"/>
          <ac:picMkLst>
            <pc:docMk/>
            <pc:sldMk cId="3553549197" sldId="270"/>
            <ac:picMk id="5" creationId="{7CBE3BF4-1E2B-E7F0-282E-90B27DC1D556}"/>
          </ac:picMkLst>
        </pc:picChg>
        <pc:picChg chg="add">
          <ac:chgData name="Ashutosh Giri" userId="a7da8857590a0571" providerId="LiveId" clId="{1378D6FC-057C-4069-9FC9-4953B8C009A0}" dt="2026-10-14T09:01:34.936" v="596" actId="22"/>
          <ac:picMkLst>
            <pc:docMk/>
            <pc:sldMk cId="3553549197" sldId="270"/>
            <ac:picMk id="7" creationId="{C86491EA-CC54-2DF4-2B8D-8F56EFA39DD5}"/>
          </ac:picMkLst>
        </pc:picChg>
      </pc:sldChg>
      <pc:sldChg chg="addSp delSp modSp new mod setBg">
        <pc:chgData name="Ashutosh Giri" userId="a7da8857590a0571" providerId="LiveId" clId="{1378D6FC-057C-4069-9FC9-4953B8C009A0}" dt="2026-10-14T09:03:32.538" v="607" actId="22"/>
        <pc:sldMkLst>
          <pc:docMk/>
          <pc:sldMk cId="687007543" sldId="271"/>
        </pc:sldMkLst>
        <pc:spChg chg="mod">
          <ac:chgData name="Ashutosh Giri" userId="a7da8857590a0571" providerId="LiveId" clId="{1378D6FC-057C-4069-9FC9-4953B8C009A0}" dt="2026-10-14T09:02:51.396" v="602"/>
          <ac:spMkLst>
            <pc:docMk/>
            <pc:sldMk cId="687007543" sldId="271"/>
            <ac:spMk id="2" creationId="{A012AB0D-FF6E-DABA-70A4-FF6AC99801BE}"/>
          </ac:spMkLst>
        </pc:spChg>
        <pc:spChg chg="del mod">
          <ac:chgData name="Ashutosh Giri" userId="a7da8857590a0571" providerId="LiveId" clId="{1378D6FC-057C-4069-9FC9-4953B8C009A0}" dt="2026-10-14T09:03:12.824" v="603" actId="22"/>
          <ac:spMkLst>
            <pc:docMk/>
            <pc:sldMk cId="687007543" sldId="271"/>
            <ac:spMk id="3" creationId="{889AA3CE-9F0B-72EF-992A-BE4651A21477}"/>
          </ac:spMkLst>
        </pc:spChg>
        <pc:picChg chg="add mod ord">
          <ac:chgData name="Ashutosh Giri" userId="a7da8857590a0571" providerId="LiveId" clId="{1378D6FC-057C-4069-9FC9-4953B8C009A0}" dt="2026-10-14T09:03:24.424" v="606" actId="14100"/>
          <ac:picMkLst>
            <pc:docMk/>
            <pc:sldMk cId="687007543" sldId="271"/>
            <ac:picMk id="5" creationId="{652FA952-82D2-A647-0D57-D86E123674E5}"/>
          </ac:picMkLst>
        </pc:picChg>
        <pc:picChg chg="add">
          <ac:chgData name="Ashutosh Giri" userId="a7da8857590a0571" providerId="LiveId" clId="{1378D6FC-057C-4069-9FC9-4953B8C009A0}" dt="2026-10-14T09:03:32.538" v="607" actId="22"/>
          <ac:picMkLst>
            <pc:docMk/>
            <pc:sldMk cId="687007543" sldId="271"/>
            <ac:picMk id="7" creationId="{DAB0F8F3-85CA-F076-D0D0-E6AE2615A8FB}"/>
          </ac:picMkLst>
        </pc:picChg>
      </pc:sldChg>
    </pc:docChg>
  </pc:docChgLst>
</pc:chgInfo>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2277008-1BB0-A80D-78C5-3D51779B51CA}"/>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IN"/>
          </a:p>
        </p:txBody>
      </p:sp>
      <p:sp>
        <p:nvSpPr>
          <p:cNvPr id="3" name="Subtitle 2">
            <a:extLst>
              <a:ext uri="{FF2B5EF4-FFF2-40B4-BE49-F238E27FC236}">
                <a16:creationId xmlns:a16="http://schemas.microsoft.com/office/drawing/2014/main" id="{33FBBF33-D3D2-783A-07CF-7C12055329B3}"/>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IN"/>
          </a:p>
        </p:txBody>
      </p:sp>
      <p:sp>
        <p:nvSpPr>
          <p:cNvPr id="4" name="Date Placeholder 3">
            <a:extLst>
              <a:ext uri="{FF2B5EF4-FFF2-40B4-BE49-F238E27FC236}">
                <a16:creationId xmlns:a16="http://schemas.microsoft.com/office/drawing/2014/main" id="{D2F00992-296B-1453-8505-960E757F0BDE}"/>
              </a:ext>
            </a:extLst>
          </p:cNvPr>
          <p:cNvSpPr>
            <a:spLocks noGrp="1"/>
          </p:cNvSpPr>
          <p:nvPr>
            <p:ph type="dt" sz="half" idx="10"/>
          </p:nvPr>
        </p:nvSpPr>
        <p:spPr/>
        <p:txBody>
          <a:bodyPr/>
          <a:lstStyle/>
          <a:p>
            <a:fld id="{AC27F7EE-920E-4407-918A-1C9ACC923E9F}" type="datetimeFigureOut">
              <a:rPr lang="en-IN" smtClean="0"/>
              <a:t>14-10-2026</a:t>
            </a:fld>
            <a:endParaRPr lang="en-IN"/>
          </a:p>
        </p:txBody>
      </p:sp>
      <p:sp>
        <p:nvSpPr>
          <p:cNvPr id="5" name="Footer Placeholder 4">
            <a:extLst>
              <a:ext uri="{FF2B5EF4-FFF2-40B4-BE49-F238E27FC236}">
                <a16:creationId xmlns:a16="http://schemas.microsoft.com/office/drawing/2014/main" id="{0E6E2A66-D7A9-B00C-7504-4E9F2338DF20}"/>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D0A44D19-123C-DAF6-73F4-ADEA7375E2A1}"/>
              </a:ext>
            </a:extLst>
          </p:cNvPr>
          <p:cNvSpPr>
            <a:spLocks noGrp="1"/>
          </p:cNvSpPr>
          <p:nvPr>
            <p:ph type="sldNum" sz="quarter" idx="12"/>
          </p:nvPr>
        </p:nvSpPr>
        <p:spPr/>
        <p:txBody>
          <a:bodyPr/>
          <a:lstStyle/>
          <a:p>
            <a:fld id="{D0F36BF7-57AA-43C5-8871-0BD0E6E49D3E}" type="slidenum">
              <a:rPr lang="en-IN" smtClean="0"/>
              <a:t>‹#›</a:t>
            </a:fld>
            <a:endParaRPr lang="en-IN"/>
          </a:p>
        </p:txBody>
      </p:sp>
    </p:spTree>
    <p:extLst>
      <p:ext uri="{BB962C8B-B14F-4D97-AF65-F5344CB8AC3E}">
        <p14:creationId xmlns:p14="http://schemas.microsoft.com/office/powerpoint/2010/main" val="395125119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0F1DF85-8FA5-1A88-39EA-38EDE10CD690}"/>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373E4D09-A029-021C-9FF3-D1208599C386}"/>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3499E9BA-6FDA-1B36-54DA-9E0EC52DF899}"/>
              </a:ext>
            </a:extLst>
          </p:cNvPr>
          <p:cNvSpPr>
            <a:spLocks noGrp="1"/>
          </p:cNvSpPr>
          <p:nvPr>
            <p:ph type="dt" sz="half" idx="10"/>
          </p:nvPr>
        </p:nvSpPr>
        <p:spPr/>
        <p:txBody>
          <a:bodyPr/>
          <a:lstStyle/>
          <a:p>
            <a:fld id="{AC27F7EE-920E-4407-918A-1C9ACC923E9F}" type="datetimeFigureOut">
              <a:rPr lang="en-IN" smtClean="0"/>
              <a:t>14-10-2026</a:t>
            </a:fld>
            <a:endParaRPr lang="en-IN"/>
          </a:p>
        </p:txBody>
      </p:sp>
      <p:sp>
        <p:nvSpPr>
          <p:cNvPr id="5" name="Footer Placeholder 4">
            <a:extLst>
              <a:ext uri="{FF2B5EF4-FFF2-40B4-BE49-F238E27FC236}">
                <a16:creationId xmlns:a16="http://schemas.microsoft.com/office/drawing/2014/main" id="{BBD8C749-3B17-0F09-CC83-EE29155CC655}"/>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8F74A13D-5897-FE61-29C8-20BE872D5682}"/>
              </a:ext>
            </a:extLst>
          </p:cNvPr>
          <p:cNvSpPr>
            <a:spLocks noGrp="1"/>
          </p:cNvSpPr>
          <p:nvPr>
            <p:ph type="sldNum" sz="quarter" idx="12"/>
          </p:nvPr>
        </p:nvSpPr>
        <p:spPr/>
        <p:txBody>
          <a:bodyPr/>
          <a:lstStyle/>
          <a:p>
            <a:fld id="{D0F36BF7-57AA-43C5-8871-0BD0E6E49D3E}" type="slidenum">
              <a:rPr lang="en-IN" smtClean="0"/>
              <a:t>‹#›</a:t>
            </a:fld>
            <a:endParaRPr lang="en-IN"/>
          </a:p>
        </p:txBody>
      </p:sp>
    </p:spTree>
    <p:extLst>
      <p:ext uri="{BB962C8B-B14F-4D97-AF65-F5344CB8AC3E}">
        <p14:creationId xmlns:p14="http://schemas.microsoft.com/office/powerpoint/2010/main" val="86600692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5FE5DC9-665C-58E5-A986-576210CC25F9}"/>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IN"/>
          </a:p>
        </p:txBody>
      </p:sp>
      <p:sp>
        <p:nvSpPr>
          <p:cNvPr id="3" name="Text Placeholder 2">
            <a:extLst>
              <a:ext uri="{FF2B5EF4-FFF2-40B4-BE49-F238E27FC236}">
                <a16:creationId xmlns:a16="http://schemas.microsoft.com/office/drawing/2014/main" id="{253E9865-D10B-9F9D-3D1E-B4B6A5CFF61B}"/>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AE785602-D6DB-6FA4-9835-A8FC4DBBFCF9}"/>
              </a:ext>
            </a:extLst>
          </p:cNvPr>
          <p:cNvSpPr>
            <a:spLocks noGrp="1"/>
          </p:cNvSpPr>
          <p:nvPr>
            <p:ph type="dt" sz="half" idx="10"/>
          </p:nvPr>
        </p:nvSpPr>
        <p:spPr/>
        <p:txBody>
          <a:bodyPr/>
          <a:lstStyle/>
          <a:p>
            <a:fld id="{AC27F7EE-920E-4407-918A-1C9ACC923E9F}" type="datetimeFigureOut">
              <a:rPr lang="en-IN" smtClean="0"/>
              <a:t>14-10-2026</a:t>
            </a:fld>
            <a:endParaRPr lang="en-IN"/>
          </a:p>
        </p:txBody>
      </p:sp>
      <p:sp>
        <p:nvSpPr>
          <p:cNvPr id="5" name="Footer Placeholder 4">
            <a:extLst>
              <a:ext uri="{FF2B5EF4-FFF2-40B4-BE49-F238E27FC236}">
                <a16:creationId xmlns:a16="http://schemas.microsoft.com/office/drawing/2014/main" id="{6C5C25A9-D6FC-C84F-D633-D9CC507969A1}"/>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CF865AF0-30F6-CA7A-5F4F-05CA54EC7787}"/>
              </a:ext>
            </a:extLst>
          </p:cNvPr>
          <p:cNvSpPr>
            <a:spLocks noGrp="1"/>
          </p:cNvSpPr>
          <p:nvPr>
            <p:ph type="sldNum" sz="quarter" idx="12"/>
          </p:nvPr>
        </p:nvSpPr>
        <p:spPr/>
        <p:txBody>
          <a:bodyPr/>
          <a:lstStyle/>
          <a:p>
            <a:fld id="{D0F36BF7-57AA-43C5-8871-0BD0E6E49D3E}" type="slidenum">
              <a:rPr lang="en-IN" smtClean="0"/>
              <a:t>‹#›</a:t>
            </a:fld>
            <a:endParaRPr lang="en-IN"/>
          </a:p>
        </p:txBody>
      </p:sp>
    </p:spTree>
    <p:extLst>
      <p:ext uri="{BB962C8B-B14F-4D97-AF65-F5344CB8AC3E}">
        <p14:creationId xmlns:p14="http://schemas.microsoft.com/office/powerpoint/2010/main" val="192771304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071A8EE-C6B2-C3BC-2EA5-A1A64FBCA1F6}"/>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4A6DAB4A-33EA-1182-809B-FD326FFA2801}"/>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a:extLst>
              <a:ext uri="{FF2B5EF4-FFF2-40B4-BE49-F238E27FC236}">
                <a16:creationId xmlns:a16="http://schemas.microsoft.com/office/drawing/2014/main" id="{24994C16-C711-3DD0-4DD3-3215C35A083D}"/>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Date Placeholder 4">
            <a:extLst>
              <a:ext uri="{FF2B5EF4-FFF2-40B4-BE49-F238E27FC236}">
                <a16:creationId xmlns:a16="http://schemas.microsoft.com/office/drawing/2014/main" id="{38BEEF25-3B74-1AD2-7B7D-91201349F15E}"/>
              </a:ext>
            </a:extLst>
          </p:cNvPr>
          <p:cNvSpPr>
            <a:spLocks noGrp="1"/>
          </p:cNvSpPr>
          <p:nvPr>
            <p:ph type="dt" sz="half" idx="10"/>
          </p:nvPr>
        </p:nvSpPr>
        <p:spPr/>
        <p:txBody>
          <a:bodyPr/>
          <a:lstStyle/>
          <a:p>
            <a:fld id="{AC27F7EE-920E-4407-918A-1C9ACC923E9F}" type="datetimeFigureOut">
              <a:rPr lang="en-IN" smtClean="0"/>
              <a:t>14-10-2026</a:t>
            </a:fld>
            <a:endParaRPr lang="en-IN"/>
          </a:p>
        </p:txBody>
      </p:sp>
      <p:sp>
        <p:nvSpPr>
          <p:cNvPr id="6" name="Footer Placeholder 5">
            <a:extLst>
              <a:ext uri="{FF2B5EF4-FFF2-40B4-BE49-F238E27FC236}">
                <a16:creationId xmlns:a16="http://schemas.microsoft.com/office/drawing/2014/main" id="{54645204-97FF-3972-72CB-8952412417F6}"/>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793B74C2-93FB-9BA5-A51C-30B5B903C47C}"/>
              </a:ext>
            </a:extLst>
          </p:cNvPr>
          <p:cNvSpPr>
            <a:spLocks noGrp="1"/>
          </p:cNvSpPr>
          <p:nvPr>
            <p:ph type="sldNum" sz="quarter" idx="12"/>
          </p:nvPr>
        </p:nvSpPr>
        <p:spPr/>
        <p:txBody>
          <a:bodyPr/>
          <a:lstStyle/>
          <a:p>
            <a:fld id="{D0F36BF7-57AA-43C5-8871-0BD0E6E49D3E}" type="slidenum">
              <a:rPr lang="en-IN" smtClean="0"/>
              <a:t>‹#›</a:t>
            </a:fld>
            <a:endParaRPr lang="en-IN"/>
          </a:p>
        </p:txBody>
      </p:sp>
    </p:spTree>
    <p:extLst>
      <p:ext uri="{BB962C8B-B14F-4D97-AF65-F5344CB8AC3E}">
        <p14:creationId xmlns:p14="http://schemas.microsoft.com/office/powerpoint/2010/main" val="366608022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4256164-D896-0113-C851-033F0EBBC49A}"/>
              </a:ext>
            </a:extLst>
          </p:cNvPr>
          <p:cNvSpPr>
            <a:spLocks noGrp="1"/>
          </p:cNvSpPr>
          <p:nvPr>
            <p:ph type="title"/>
          </p:nvPr>
        </p:nvSpPr>
        <p:spPr>
          <a:xfrm>
            <a:off x="839788" y="365125"/>
            <a:ext cx="10515600" cy="1325563"/>
          </a:xfrm>
        </p:spPr>
        <p:txBody>
          <a:bodyPr/>
          <a:lstStyle/>
          <a:p>
            <a:r>
              <a:rPr lang="en-US"/>
              <a:t>Click to edit Master title style</a:t>
            </a:r>
            <a:endParaRPr lang="en-IN"/>
          </a:p>
        </p:txBody>
      </p:sp>
      <p:sp>
        <p:nvSpPr>
          <p:cNvPr id="3" name="Text Placeholder 2">
            <a:extLst>
              <a:ext uri="{FF2B5EF4-FFF2-40B4-BE49-F238E27FC236}">
                <a16:creationId xmlns:a16="http://schemas.microsoft.com/office/drawing/2014/main" id="{BEA37913-8F4C-53DD-2C32-A7B6077CA424}"/>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63686E67-AF7D-09F6-D1D1-2DAE9A85A14E}"/>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Text Placeholder 4">
            <a:extLst>
              <a:ext uri="{FF2B5EF4-FFF2-40B4-BE49-F238E27FC236}">
                <a16:creationId xmlns:a16="http://schemas.microsoft.com/office/drawing/2014/main" id="{AF9966A1-ED20-8DCE-96DF-3A3C28BABA4B}"/>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5331E2BE-2EB5-2CFD-9B09-B1E0215D0062}"/>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7" name="Date Placeholder 6">
            <a:extLst>
              <a:ext uri="{FF2B5EF4-FFF2-40B4-BE49-F238E27FC236}">
                <a16:creationId xmlns:a16="http://schemas.microsoft.com/office/drawing/2014/main" id="{230E95A5-B95A-9C2F-3A6E-A8B1081663DB}"/>
              </a:ext>
            </a:extLst>
          </p:cNvPr>
          <p:cNvSpPr>
            <a:spLocks noGrp="1"/>
          </p:cNvSpPr>
          <p:nvPr>
            <p:ph type="dt" sz="half" idx="10"/>
          </p:nvPr>
        </p:nvSpPr>
        <p:spPr/>
        <p:txBody>
          <a:bodyPr/>
          <a:lstStyle/>
          <a:p>
            <a:fld id="{AC27F7EE-920E-4407-918A-1C9ACC923E9F}" type="datetimeFigureOut">
              <a:rPr lang="en-IN" smtClean="0"/>
              <a:t>14-10-2026</a:t>
            </a:fld>
            <a:endParaRPr lang="en-IN"/>
          </a:p>
        </p:txBody>
      </p:sp>
      <p:sp>
        <p:nvSpPr>
          <p:cNvPr id="8" name="Footer Placeholder 7">
            <a:extLst>
              <a:ext uri="{FF2B5EF4-FFF2-40B4-BE49-F238E27FC236}">
                <a16:creationId xmlns:a16="http://schemas.microsoft.com/office/drawing/2014/main" id="{6278B5C7-58DF-819F-F7F5-AEC0898FFDD9}"/>
              </a:ext>
            </a:extLst>
          </p:cNvPr>
          <p:cNvSpPr>
            <a:spLocks noGrp="1"/>
          </p:cNvSpPr>
          <p:nvPr>
            <p:ph type="ftr" sz="quarter" idx="11"/>
          </p:nvPr>
        </p:nvSpPr>
        <p:spPr/>
        <p:txBody>
          <a:bodyPr/>
          <a:lstStyle/>
          <a:p>
            <a:endParaRPr lang="en-IN"/>
          </a:p>
        </p:txBody>
      </p:sp>
      <p:sp>
        <p:nvSpPr>
          <p:cNvPr id="9" name="Slide Number Placeholder 8">
            <a:extLst>
              <a:ext uri="{FF2B5EF4-FFF2-40B4-BE49-F238E27FC236}">
                <a16:creationId xmlns:a16="http://schemas.microsoft.com/office/drawing/2014/main" id="{516B7259-782F-D112-8218-46C2C3C6E266}"/>
              </a:ext>
            </a:extLst>
          </p:cNvPr>
          <p:cNvSpPr>
            <a:spLocks noGrp="1"/>
          </p:cNvSpPr>
          <p:nvPr>
            <p:ph type="sldNum" sz="quarter" idx="12"/>
          </p:nvPr>
        </p:nvSpPr>
        <p:spPr/>
        <p:txBody>
          <a:bodyPr/>
          <a:lstStyle/>
          <a:p>
            <a:fld id="{D0F36BF7-57AA-43C5-8871-0BD0E6E49D3E}" type="slidenum">
              <a:rPr lang="en-IN" smtClean="0"/>
              <a:t>‹#›</a:t>
            </a:fld>
            <a:endParaRPr lang="en-IN"/>
          </a:p>
        </p:txBody>
      </p:sp>
    </p:spTree>
    <p:extLst>
      <p:ext uri="{BB962C8B-B14F-4D97-AF65-F5344CB8AC3E}">
        <p14:creationId xmlns:p14="http://schemas.microsoft.com/office/powerpoint/2010/main" val="359889489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D9D8BBF-66A8-48A5-A96D-C4725978F81A}"/>
              </a:ext>
            </a:extLst>
          </p:cNvPr>
          <p:cNvSpPr>
            <a:spLocks noGrp="1"/>
          </p:cNvSpPr>
          <p:nvPr>
            <p:ph type="title"/>
          </p:nvPr>
        </p:nvSpPr>
        <p:spPr/>
        <p:txBody>
          <a:bodyPr/>
          <a:lstStyle/>
          <a:p>
            <a:r>
              <a:rPr lang="en-US"/>
              <a:t>Click to edit Master title style</a:t>
            </a:r>
            <a:endParaRPr lang="en-IN"/>
          </a:p>
        </p:txBody>
      </p:sp>
      <p:sp>
        <p:nvSpPr>
          <p:cNvPr id="3" name="Date Placeholder 2">
            <a:extLst>
              <a:ext uri="{FF2B5EF4-FFF2-40B4-BE49-F238E27FC236}">
                <a16:creationId xmlns:a16="http://schemas.microsoft.com/office/drawing/2014/main" id="{5C2375CE-AAE0-708C-7EAF-AAB8608367D9}"/>
              </a:ext>
            </a:extLst>
          </p:cNvPr>
          <p:cNvSpPr>
            <a:spLocks noGrp="1"/>
          </p:cNvSpPr>
          <p:nvPr>
            <p:ph type="dt" sz="half" idx="10"/>
          </p:nvPr>
        </p:nvSpPr>
        <p:spPr/>
        <p:txBody>
          <a:bodyPr/>
          <a:lstStyle/>
          <a:p>
            <a:fld id="{AC27F7EE-920E-4407-918A-1C9ACC923E9F}" type="datetimeFigureOut">
              <a:rPr lang="en-IN" smtClean="0"/>
              <a:t>14-10-2026</a:t>
            </a:fld>
            <a:endParaRPr lang="en-IN"/>
          </a:p>
        </p:txBody>
      </p:sp>
      <p:sp>
        <p:nvSpPr>
          <p:cNvPr id="4" name="Footer Placeholder 3">
            <a:extLst>
              <a:ext uri="{FF2B5EF4-FFF2-40B4-BE49-F238E27FC236}">
                <a16:creationId xmlns:a16="http://schemas.microsoft.com/office/drawing/2014/main" id="{62DAEB5D-0E7A-6438-274C-6C148A296129}"/>
              </a:ext>
            </a:extLst>
          </p:cNvPr>
          <p:cNvSpPr>
            <a:spLocks noGrp="1"/>
          </p:cNvSpPr>
          <p:nvPr>
            <p:ph type="ftr" sz="quarter" idx="11"/>
          </p:nvPr>
        </p:nvSpPr>
        <p:spPr/>
        <p:txBody>
          <a:bodyPr/>
          <a:lstStyle/>
          <a:p>
            <a:endParaRPr lang="en-IN"/>
          </a:p>
        </p:txBody>
      </p:sp>
      <p:sp>
        <p:nvSpPr>
          <p:cNvPr id="5" name="Slide Number Placeholder 4">
            <a:extLst>
              <a:ext uri="{FF2B5EF4-FFF2-40B4-BE49-F238E27FC236}">
                <a16:creationId xmlns:a16="http://schemas.microsoft.com/office/drawing/2014/main" id="{370685EE-BC60-3876-7B95-A5FEECFEC3BC}"/>
              </a:ext>
            </a:extLst>
          </p:cNvPr>
          <p:cNvSpPr>
            <a:spLocks noGrp="1"/>
          </p:cNvSpPr>
          <p:nvPr>
            <p:ph type="sldNum" sz="quarter" idx="12"/>
          </p:nvPr>
        </p:nvSpPr>
        <p:spPr/>
        <p:txBody>
          <a:bodyPr/>
          <a:lstStyle/>
          <a:p>
            <a:fld id="{D0F36BF7-57AA-43C5-8871-0BD0E6E49D3E}" type="slidenum">
              <a:rPr lang="en-IN" smtClean="0"/>
              <a:t>‹#›</a:t>
            </a:fld>
            <a:endParaRPr lang="en-IN"/>
          </a:p>
        </p:txBody>
      </p:sp>
    </p:spTree>
    <p:extLst>
      <p:ext uri="{BB962C8B-B14F-4D97-AF65-F5344CB8AC3E}">
        <p14:creationId xmlns:p14="http://schemas.microsoft.com/office/powerpoint/2010/main" val="317802336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3FF2921B-80D9-48F8-97BD-48C19B3F12A3}"/>
              </a:ext>
            </a:extLst>
          </p:cNvPr>
          <p:cNvSpPr>
            <a:spLocks noGrp="1"/>
          </p:cNvSpPr>
          <p:nvPr>
            <p:ph type="dt" sz="half" idx="10"/>
          </p:nvPr>
        </p:nvSpPr>
        <p:spPr/>
        <p:txBody>
          <a:bodyPr/>
          <a:lstStyle/>
          <a:p>
            <a:fld id="{AC27F7EE-920E-4407-918A-1C9ACC923E9F}" type="datetimeFigureOut">
              <a:rPr lang="en-IN" smtClean="0"/>
              <a:t>14-10-2026</a:t>
            </a:fld>
            <a:endParaRPr lang="en-IN"/>
          </a:p>
        </p:txBody>
      </p:sp>
      <p:sp>
        <p:nvSpPr>
          <p:cNvPr id="3" name="Footer Placeholder 2">
            <a:extLst>
              <a:ext uri="{FF2B5EF4-FFF2-40B4-BE49-F238E27FC236}">
                <a16:creationId xmlns:a16="http://schemas.microsoft.com/office/drawing/2014/main" id="{BADF8BEC-46F5-F8A4-AC09-56DB3D8FA14D}"/>
              </a:ext>
            </a:extLst>
          </p:cNvPr>
          <p:cNvSpPr>
            <a:spLocks noGrp="1"/>
          </p:cNvSpPr>
          <p:nvPr>
            <p:ph type="ftr" sz="quarter" idx="11"/>
          </p:nvPr>
        </p:nvSpPr>
        <p:spPr/>
        <p:txBody>
          <a:bodyPr/>
          <a:lstStyle/>
          <a:p>
            <a:endParaRPr lang="en-IN"/>
          </a:p>
        </p:txBody>
      </p:sp>
      <p:sp>
        <p:nvSpPr>
          <p:cNvPr id="4" name="Slide Number Placeholder 3">
            <a:extLst>
              <a:ext uri="{FF2B5EF4-FFF2-40B4-BE49-F238E27FC236}">
                <a16:creationId xmlns:a16="http://schemas.microsoft.com/office/drawing/2014/main" id="{71FCB235-22F9-B566-B938-FB742F321DF3}"/>
              </a:ext>
            </a:extLst>
          </p:cNvPr>
          <p:cNvSpPr>
            <a:spLocks noGrp="1"/>
          </p:cNvSpPr>
          <p:nvPr>
            <p:ph type="sldNum" sz="quarter" idx="12"/>
          </p:nvPr>
        </p:nvSpPr>
        <p:spPr/>
        <p:txBody>
          <a:bodyPr/>
          <a:lstStyle/>
          <a:p>
            <a:fld id="{D0F36BF7-57AA-43C5-8871-0BD0E6E49D3E}" type="slidenum">
              <a:rPr lang="en-IN" smtClean="0"/>
              <a:t>‹#›</a:t>
            </a:fld>
            <a:endParaRPr lang="en-IN"/>
          </a:p>
        </p:txBody>
      </p:sp>
    </p:spTree>
    <p:extLst>
      <p:ext uri="{BB962C8B-B14F-4D97-AF65-F5344CB8AC3E}">
        <p14:creationId xmlns:p14="http://schemas.microsoft.com/office/powerpoint/2010/main" val="3407704253"/>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E907B95-57D5-41CF-B72A-2C58E78E534F}"/>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Content Placeholder 2">
            <a:extLst>
              <a:ext uri="{FF2B5EF4-FFF2-40B4-BE49-F238E27FC236}">
                <a16:creationId xmlns:a16="http://schemas.microsoft.com/office/drawing/2014/main" id="{BA550F27-81F4-8A89-405B-0B17B9DB8091}"/>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Text Placeholder 3">
            <a:extLst>
              <a:ext uri="{FF2B5EF4-FFF2-40B4-BE49-F238E27FC236}">
                <a16:creationId xmlns:a16="http://schemas.microsoft.com/office/drawing/2014/main" id="{DA6132EA-FD9A-510A-9EC8-DDA376EC6EF0}"/>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62E01D58-C139-5CC6-96CC-B61E65209D19}"/>
              </a:ext>
            </a:extLst>
          </p:cNvPr>
          <p:cNvSpPr>
            <a:spLocks noGrp="1"/>
          </p:cNvSpPr>
          <p:nvPr>
            <p:ph type="dt" sz="half" idx="10"/>
          </p:nvPr>
        </p:nvSpPr>
        <p:spPr/>
        <p:txBody>
          <a:bodyPr/>
          <a:lstStyle/>
          <a:p>
            <a:fld id="{AC27F7EE-920E-4407-918A-1C9ACC923E9F}" type="datetimeFigureOut">
              <a:rPr lang="en-IN" smtClean="0"/>
              <a:t>14-10-2026</a:t>
            </a:fld>
            <a:endParaRPr lang="en-IN"/>
          </a:p>
        </p:txBody>
      </p:sp>
      <p:sp>
        <p:nvSpPr>
          <p:cNvPr id="6" name="Footer Placeholder 5">
            <a:extLst>
              <a:ext uri="{FF2B5EF4-FFF2-40B4-BE49-F238E27FC236}">
                <a16:creationId xmlns:a16="http://schemas.microsoft.com/office/drawing/2014/main" id="{9308E4F7-81CE-1074-5894-138DEB2E5A1C}"/>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E206AE06-998F-FA60-4E43-D2D8EE77E577}"/>
              </a:ext>
            </a:extLst>
          </p:cNvPr>
          <p:cNvSpPr>
            <a:spLocks noGrp="1"/>
          </p:cNvSpPr>
          <p:nvPr>
            <p:ph type="sldNum" sz="quarter" idx="12"/>
          </p:nvPr>
        </p:nvSpPr>
        <p:spPr/>
        <p:txBody>
          <a:bodyPr/>
          <a:lstStyle/>
          <a:p>
            <a:fld id="{D0F36BF7-57AA-43C5-8871-0BD0E6E49D3E}" type="slidenum">
              <a:rPr lang="en-IN" smtClean="0"/>
              <a:t>‹#›</a:t>
            </a:fld>
            <a:endParaRPr lang="en-IN"/>
          </a:p>
        </p:txBody>
      </p:sp>
    </p:spTree>
    <p:extLst>
      <p:ext uri="{BB962C8B-B14F-4D97-AF65-F5344CB8AC3E}">
        <p14:creationId xmlns:p14="http://schemas.microsoft.com/office/powerpoint/2010/main" val="33024634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91E3D79-7EFB-1360-AAF9-09C2CB69A9AA}"/>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Picture Placeholder 2">
            <a:extLst>
              <a:ext uri="{FF2B5EF4-FFF2-40B4-BE49-F238E27FC236}">
                <a16:creationId xmlns:a16="http://schemas.microsoft.com/office/drawing/2014/main" id="{4B21BA50-3A9B-D351-5437-D693965F31FD}"/>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4" name="Text Placeholder 3">
            <a:extLst>
              <a:ext uri="{FF2B5EF4-FFF2-40B4-BE49-F238E27FC236}">
                <a16:creationId xmlns:a16="http://schemas.microsoft.com/office/drawing/2014/main" id="{BC717354-9C33-2222-C186-0AD2C4E5F55B}"/>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280523C4-D2A1-8229-684E-359540098721}"/>
              </a:ext>
            </a:extLst>
          </p:cNvPr>
          <p:cNvSpPr>
            <a:spLocks noGrp="1"/>
          </p:cNvSpPr>
          <p:nvPr>
            <p:ph type="dt" sz="half" idx="10"/>
          </p:nvPr>
        </p:nvSpPr>
        <p:spPr/>
        <p:txBody>
          <a:bodyPr/>
          <a:lstStyle/>
          <a:p>
            <a:fld id="{AC27F7EE-920E-4407-918A-1C9ACC923E9F}" type="datetimeFigureOut">
              <a:rPr lang="en-IN" smtClean="0"/>
              <a:t>14-10-2026</a:t>
            </a:fld>
            <a:endParaRPr lang="en-IN"/>
          </a:p>
        </p:txBody>
      </p:sp>
      <p:sp>
        <p:nvSpPr>
          <p:cNvPr id="6" name="Footer Placeholder 5">
            <a:extLst>
              <a:ext uri="{FF2B5EF4-FFF2-40B4-BE49-F238E27FC236}">
                <a16:creationId xmlns:a16="http://schemas.microsoft.com/office/drawing/2014/main" id="{524A79C6-2E4E-D8CA-C3A3-7DB4842EA221}"/>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DD7379F5-560B-84C1-68F3-BF5BE28657C4}"/>
              </a:ext>
            </a:extLst>
          </p:cNvPr>
          <p:cNvSpPr>
            <a:spLocks noGrp="1"/>
          </p:cNvSpPr>
          <p:nvPr>
            <p:ph type="sldNum" sz="quarter" idx="12"/>
          </p:nvPr>
        </p:nvSpPr>
        <p:spPr/>
        <p:txBody>
          <a:bodyPr/>
          <a:lstStyle/>
          <a:p>
            <a:fld id="{D0F36BF7-57AA-43C5-8871-0BD0E6E49D3E}" type="slidenum">
              <a:rPr lang="en-IN" smtClean="0"/>
              <a:t>‹#›</a:t>
            </a:fld>
            <a:endParaRPr lang="en-IN"/>
          </a:p>
        </p:txBody>
      </p:sp>
    </p:spTree>
    <p:extLst>
      <p:ext uri="{BB962C8B-B14F-4D97-AF65-F5344CB8AC3E}">
        <p14:creationId xmlns:p14="http://schemas.microsoft.com/office/powerpoint/2010/main" val="382051468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ABAA59D-D68B-2111-8D83-0D25BF9CE051}"/>
              </a:ext>
            </a:extLst>
          </p:cNvPr>
          <p:cNvSpPr>
            <a:spLocks noGrp="1"/>
          </p:cNvSpPr>
          <p:nvPr>
            <p:ph type="title"/>
          </p:nvPr>
        </p:nvSpPr>
        <p:spPr/>
        <p:txBody>
          <a:bodyPr/>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7B5D8215-C036-34FE-13B0-D500E2024426}"/>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3B2129F1-7499-8756-E47C-18F2BEFF7014}"/>
              </a:ext>
            </a:extLst>
          </p:cNvPr>
          <p:cNvSpPr>
            <a:spLocks noGrp="1"/>
          </p:cNvSpPr>
          <p:nvPr>
            <p:ph type="dt" sz="half" idx="10"/>
          </p:nvPr>
        </p:nvSpPr>
        <p:spPr/>
        <p:txBody>
          <a:bodyPr/>
          <a:lstStyle/>
          <a:p>
            <a:fld id="{AC27F7EE-920E-4407-918A-1C9ACC923E9F}" type="datetimeFigureOut">
              <a:rPr lang="en-IN" smtClean="0"/>
              <a:t>14-10-2026</a:t>
            </a:fld>
            <a:endParaRPr lang="en-IN"/>
          </a:p>
        </p:txBody>
      </p:sp>
      <p:sp>
        <p:nvSpPr>
          <p:cNvPr id="5" name="Footer Placeholder 4">
            <a:extLst>
              <a:ext uri="{FF2B5EF4-FFF2-40B4-BE49-F238E27FC236}">
                <a16:creationId xmlns:a16="http://schemas.microsoft.com/office/drawing/2014/main" id="{71BCD387-FD41-4397-D6C2-43503118AA1C}"/>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9BDB238F-3B16-D9CB-7556-AC099B2FEB9C}"/>
              </a:ext>
            </a:extLst>
          </p:cNvPr>
          <p:cNvSpPr>
            <a:spLocks noGrp="1"/>
          </p:cNvSpPr>
          <p:nvPr>
            <p:ph type="sldNum" sz="quarter" idx="12"/>
          </p:nvPr>
        </p:nvSpPr>
        <p:spPr/>
        <p:txBody>
          <a:bodyPr/>
          <a:lstStyle/>
          <a:p>
            <a:fld id="{D0F36BF7-57AA-43C5-8871-0BD0E6E49D3E}" type="slidenum">
              <a:rPr lang="en-IN" smtClean="0"/>
              <a:t>‹#›</a:t>
            </a:fld>
            <a:endParaRPr lang="en-IN"/>
          </a:p>
        </p:txBody>
      </p:sp>
    </p:spTree>
    <p:extLst>
      <p:ext uri="{BB962C8B-B14F-4D97-AF65-F5344CB8AC3E}">
        <p14:creationId xmlns:p14="http://schemas.microsoft.com/office/powerpoint/2010/main" val="218960514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5048A9A4-6703-A501-EC88-B28DBE34F1B4}"/>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59D5E2DB-3B76-10D6-6DEA-EAA0682FCA89}"/>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AA2F8ABD-C770-16D7-8BE6-CF629231F955}"/>
              </a:ext>
            </a:extLst>
          </p:cNvPr>
          <p:cNvSpPr>
            <a:spLocks noGrp="1"/>
          </p:cNvSpPr>
          <p:nvPr>
            <p:ph type="dt" sz="half" idx="10"/>
          </p:nvPr>
        </p:nvSpPr>
        <p:spPr/>
        <p:txBody>
          <a:bodyPr/>
          <a:lstStyle/>
          <a:p>
            <a:fld id="{AC27F7EE-920E-4407-918A-1C9ACC923E9F}" type="datetimeFigureOut">
              <a:rPr lang="en-IN" smtClean="0"/>
              <a:t>14-10-2026</a:t>
            </a:fld>
            <a:endParaRPr lang="en-IN"/>
          </a:p>
        </p:txBody>
      </p:sp>
      <p:sp>
        <p:nvSpPr>
          <p:cNvPr id="5" name="Footer Placeholder 4">
            <a:extLst>
              <a:ext uri="{FF2B5EF4-FFF2-40B4-BE49-F238E27FC236}">
                <a16:creationId xmlns:a16="http://schemas.microsoft.com/office/drawing/2014/main" id="{BFA55C38-9077-2442-0D5D-9DA5FE03A171}"/>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0745634F-785E-22EF-D450-6B8EF2B521FA}"/>
              </a:ext>
            </a:extLst>
          </p:cNvPr>
          <p:cNvSpPr>
            <a:spLocks noGrp="1"/>
          </p:cNvSpPr>
          <p:nvPr>
            <p:ph type="sldNum" sz="quarter" idx="12"/>
          </p:nvPr>
        </p:nvSpPr>
        <p:spPr/>
        <p:txBody>
          <a:bodyPr/>
          <a:lstStyle/>
          <a:p>
            <a:fld id="{D0F36BF7-57AA-43C5-8871-0BD0E6E49D3E}" type="slidenum">
              <a:rPr lang="en-IN" smtClean="0"/>
              <a:t>‹#›</a:t>
            </a:fld>
            <a:endParaRPr lang="en-IN"/>
          </a:p>
        </p:txBody>
      </p:sp>
    </p:spTree>
    <p:extLst>
      <p:ext uri="{BB962C8B-B14F-4D97-AF65-F5344CB8AC3E}">
        <p14:creationId xmlns:p14="http://schemas.microsoft.com/office/powerpoint/2010/main" val="240652363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2">
        <a:schemeClr val="bg2"/>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81BA7E67-602E-6145-975A-B120C2BB0457}"/>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IN"/>
          </a:p>
        </p:txBody>
      </p:sp>
      <p:sp>
        <p:nvSpPr>
          <p:cNvPr id="3" name="Text Placeholder 2">
            <a:extLst>
              <a:ext uri="{FF2B5EF4-FFF2-40B4-BE49-F238E27FC236}">
                <a16:creationId xmlns:a16="http://schemas.microsoft.com/office/drawing/2014/main" id="{6E676CC1-8A71-CBE5-A1F3-5B538F06CFF5}"/>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10C51513-6A4A-7694-877B-EF60E230E0B8}"/>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AC27F7EE-920E-4407-918A-1C9ACC923E9F}" type="datetimeFigureOut">
              <a:rPr lang="en-IN" smtClean="0"/>
              <a:t>14-10-2026</a:t>
            </a:fld>
            <a:endParaRPr lang="en-IN"/>
          </a:p>
        </p:txBody>
      </p:sp>
      <p:sp>
        <p:nvSpPr>
          <p:cNvPr id="5" name="Footer Placeholder 4">
            <a:extLst>
              <a:ext uri="{FF2B5EF4-FFF2-40B4-BE49-F238E27FC236}">
                <a16:creationId xmlns:a16="http://schemas.microsoft.com/office/drawing/2014/main" id="{C2D105DA-59D7-C473-1042-19719DC3BC4D}"/>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IN"/>
          </a:p>
        </p:txBody>
      </p:sp>
      <p:sp>
        <p:nvSpPr>
          <p:cNvPr id="6" name="Slide Number Placeholder 5">
            <a:extLst>
              <a:ext uri="{FF2B5EF4-FFF2-40B4-BE49-F238E27FC236}">
                <a16:creationId xmlns:a16="http://schemas.microsoft.com/office/drawing/2014/main" id="{F06D2FAE-D10F-B9FF-227F-3B6524A9C74A}"/>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D0F36BF7-57AA-43C5-8871-0BD0E6E49D3E}" type="slidenum">
              <a:rPr lang="en-IN" smtClean="0"/>
              <a:t>‹#›</a:t>
            </a:fld>
            <a:endParaRPr lang="en-IN"/>
          </a:p>
        </p:txBody>
      </p:sp>
    </p:spTree>
    <p:extLst>
      <p:ext uri="{BB962C8B-B14F-4D97-AF65-F5344CB8AC3E}">
        <p14:creationId xmlns:p14="http://schemas.microsoft.com/office/powerpoint/2010/main" val="3436105015"/>
      </p:ext>
    </p:extLst>
  </p:cSld>
  <p:clrMap bg1="dk1" tx1="lt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slideLayout" Target="../slideLayouts/slideLayout2.xml"/><Relationship Id="rId1" Type="http://schemas.openxmlformats.org/officeDocument/2006/relationships/themeOverride" Target="../theme/themeOverride1.xml"/></Relationships>
</file>

<file path=ppt/slides/_rels/slide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slideLayout" Target="../slideLayouts/slideLayout2.xml"/><Relationship Id="rId1" Type="http://schemas.openxmlformats.org/officeDocument/2006/relationships/themeOverride" Target="../theme/themeOverride2.xml"/><Relationship Id="rId4" Type="http://schemas.openxmlformats.org/officeDocument/2006/relationships/image" Target="../media/image1.png"/></Relationships>
</file>

<file path=ppt/slides/_rels/slide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slideLayout" Target="../slideLayouts/slideLayout2.xml"/><Relationship Id="rId1" Type="http://schemas.openxmlformats.org/officeDocument/2006/relationships/themeOverride" Target="../theme/themeOverride3.xml"/></Relationships>
</file>

<file path=ppt/slides/_rels/slide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slideLayout" Target="../slideLayouts/slideLayout2.xml"/><Relationship Id="rId1" Type="http://schemas.openxmlformats.org/officeDocument/2006/relationships/themeOverride" Target="../theme/themeOverride4.xml"/><Relationship Id="rId4" Type="http://schemas.openxmlformats.org/officeDocument/2006/relationships/image" Target="../media/image1.png"/></Relationships>
</file>

<file path=ppt/slides/_rels/slide6.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slideLayout" Target="../slideLayouts/slideLayout2.xml"/><Relationship Id="rId1" Type="http://schemas.openxmlformats.org/officeDocument/2006/relationships/themeOverride" Target="../theme/themeOverride5.xml"/><Relationship Id="rId4" Type="http://schemas.openxmlformats.org/officeDocument/2006/relationships/image" Target="../media/image1.png"/></Relationships>
</file>

<file path=ppt/slides/_rels/slide7.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slideLayout" Target="../slideLayouts/slideLayout2.xml"/><Relationship Id="rId1" Type="http://schemas.openxmlformats.org/officeDocument/2006/relationships/themeOverride" Target="../theme/themeOverride6.xml"/><Relationship Id="rId4" Type="http://schemas.openxmlformats.org/officeDocument/2006/relationships/image" Target="../media/image1.png"/></Relationships>
</file>

<file path=ppt/slides/_rels/slide8.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slideLayout" Target="../slideLayouts/slideLayout2.xml"/><Relationship Id="rId1" Type="http://schemas.openxmlformats.org/officeDocument/2006/relationships/themeOverride" Target="../theme/themeOverride7.xml"/><Relationship Id="rId5" Type="http://schemas.openxmlformats.org/officeDocument/2006/relationships/image" Target="../media/image1.png"/><Relationship Id="rId4" Type="http://schemas.openxmlformats.org/officeDocument/2006/relationships/image" Target="../media/image7.png"/></Relationships>
</file>

<file path=ppt/slides/_rels/slide9.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slideLayout" Target="../slideLayouts/slideLayout2.xml"/><Relationship Id="rId1" Type="http://schemas.openxmlformats.org/officeDocument/2006/relationships/themeOverride" Target="../theme/themeOverride8.xml"/><Relationship Id="rId4" Type="http://schemas.openxmlformats.org/officeDocument/2006/relationships/image" Target="../media/image1.png"/></Relationships>
</file>

<file path=ppt/slides/_rels/slide10.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slideLayout" Target="../slideLayouts/slideLayout2.xml"/><Relationship Id="rId1" Type="http://schemas.openxmlformats.org/officeDocument/2006/relationships/themeOverride" Target="../theme/themeOverride9.xml"/><Relationship Id="rId4" Type="http://schemas.openxmlformats.org/officeDocument/2006/relationships/image" Target="../media/image1.png"/></Relationships>
</file>

<file path=ppt/slides/_rels/slide1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slideLayout" Target="../slideLayouts/slideLayout2.xml"/><Relationship Id="rId1" Type="http://schemas.openxmlformats.org/officeDocument/2006/relationships/themeOverride" Target="../theme/themeOverride10.xml"/><Relationship Id="rId4" Type="http://schemas.openxmlformats.org/officeDocument/2006/relationships/image" Target="../media/image9.png"/></Relationships>
</file>

<file path=ppt/slides/_rels/slide12.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slideLayout" Target="../slideLayouts/slideLayout2.xml"/><Relationship Id="rId1" Type="http://schemas.openxmlformats.org/officeDocument/2006/relationships/themeOverride" Target="../theme/themeOverride11.xml"/><Relationship Id="rId4" Type="http://schemas.openxmlformats.org/officeDocument/2006/relationships/image" Target="../media/image1.png"/></Relationships>
</file>

<file path=ppt/slides/_rels/slide13.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slideLayout" Target="../slideLayouts/slideLayout2.xml"/><Relationship Id="rId1" Type="http://schemas.openxmlformats.org/officeDocument/2006/relationships/themeOverride" Target="../theme/themeOverride12.xml"/><Relationship Id="rId4" Type="http://schemas.openxmlformats.org/officeDocument/2006/relationships/image" Target="../media/image1.png"/></Relationships>
</file>

<file path=ppt/slides/_rels/slide1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slideLayout" Target="../slideLayouts/slideLayout2.xml"/><Relationship Id="rId1" Type="http://schemas.openxmlformats.org/officeDocument/2006/relationships/themeOverride" Target="../theme/themeOverride13.xml"/></Relationships>
</file>

<file path=ppt/slides/_rels/slide1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slideLayout" Target="../slideLayouts/slideLayout2.xml"/><Relationship Id="rId1" Type="http://schemas.openxmlformats.org/officeDocument/2006/relationships/themeOverride" Target="../theme/themeOverride14.xml"/></Relationships>
</file>

<file path=ppt/slides/_rels/slide1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slideLayout" Target="../slideLayouts/slideLayout2.xml"/><Relationship Id="rId1" Type="http://schemas.openxmlformats.org/officeDocument/2006/relationships/themeOverride" Target="../theme/themeOverride15.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002060">
            <a:alpha val="80000"/>
          </a:srgbClr>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AA9F60E-9309-F89A-23D3-4E6F03CACF7E}"/>
              </a:ext>
            </a:extLst>
          </p:cNvPr>
          <p:cNvSpPr>
            <a:spLocks noGrp="1"/>
          </p:cNvSpPr>
          <p:nvPr>
            <p:ph type="ctrTitle"/>
          </p:nvPr>
        </p:nvSpPr>
        <p:spPr>
          <a:xfrm>
            <a:off x="-867471" y="1606005"/>
            <a:ext cx="9770533" cy="1278467"/>
          </a:xfrm>
        </p:spPr>
        <p:txBody>
          <a:bodyPr>
            <a:normAutofit/>
          </a:bodyPr>
          <a:lstStyle/>
          <a:p>
            <a:r>
              <a:rPr lang="en-IN" sz="4800" b="1" dirty="0">
                <a:latin typeface="Agency FB" panose="020B0503020202020204" pitchFamily="34" charset="0"/>
                <a:cs typeface="Arial" panose="020B0604020202020204" pitchFamily="34" charset="0"/>
              </a:rPr>
              <a:t>Bank Customer Churn Analysis</a:t>
            </a:r>
          </a:p>
        </p:txBody>
      </p:sp>
      <p:sp>
        <p:nvSpPr>
          <p:cNvPr id="3" name="Subtitle 2">
            <a:extLst>
              <a:ext uri="{FF2B5EF4-FFF2-40B4-BE49-F238E27FC236}">
                <a16:creationId xmlns:a16="http://schemas.microsoft.com/office/drawing/2014/main" id="{168098FF-BD2E-DBD5-C047-D4F76E6069DE}"/>
              </a:ext>
            </a:extLst>
          </p:cNvPr>
          <p:cNvSpPr>
            <a:spLocks noGrp="1"/>
          </p:cNvSpPr>
          <p:nvPr>
            <p:ph type="subTitle" idx="1"/>
          </p:nvPr>
        </p:nvSpPr>
        <p:spPr>
          <a:xfrm>
            <a:off x="-1041400" y="3429000"/>
            <a:ext cx="9144000" cy="1655762"/>
          </a:xfrm>
        </p:spPr>
        <p:txBody>
          <a:bodyPr/>
          <a:lstStyle/>
          <a:p>
            <a:r>
              <a:rPr lang="en-IN" sz="2800" b="1" dirty="0">
                <a:latin typeface="Agency FB" panose="020B0503020202020204" pitchFamily="34" charset="0"/>
              </a:rPr>
              <a:t>CRM Insights for Customer Retention</a:t>
            </a:r>
          </a:p>
          <a:p>
            <a:endParaRPr lang="en-IN" dirty="0"/>
          </a:p>
          <a:p>
            <a:pPr algn="l"/>
            <a:r>
              <a:rPr lang="en-IN" sz="2800" b="1" dirty="0">
                <a:latin typeface="Agency FB" panose="020B0503020202020204" pitchFamily="34" charset="0"/>
              </a:rPr>
              <a:t>   			By – Ashutosh Giri</a:t>
            </a:r>
          </a:p>
        </p:txBody>
      </p:sp>
      <p:pic>
        <p:nvPicPr>
          <p:cNvPr id="5" name="Picture 4">
            <a:extLst>
              <a:ext uri="{FF2B5EF4-FFF2-40B4-BE49-F238E27FC236}">
                <a16:creationId xmlns:a16="http://schemas.microsoft.com/office/drawing/2014/main" id="{9772243C-C9F0-86D5-6033-216CBAD50593}"/>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7314519" y="836408"/>
            <a:ext cx="4877481" cy="4877481"/>
          </a:xfrm>
          <a:prstGeom prst="rect">
            <a:avLst/>
          </a:prstGeom>
        </p:spPr>
      </p:pic>
    </p:spTree>
    <p:extLst>
      <p:ext uri="{BB962C8B-B14F-4D97-AF65-F5344CB8AC3E}">
        <p14:creationId xmlns:p14="http://schemas.microsoft.com/office/powerpoint/2010/main" val="1821230453"/>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002060">
            <a:alpha val="80000"/>
          </a:srgbClr>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FDA06F6-CF58-596E-3854-FB24606B8023}"/>
              </a:ext>
            </a:extLst>
          </p:cNvPr>
          <p:cNvSpPr>
            <a:spLocks noGrp="1"/>
          </p:cNvSpPr>
          <p:nvPr>
            <p:ph type="title"/>
          </p:nvPr>
        </p:nvSpPr>
        <p:spPr/>
        <p:txBody>
          <a:bodyPr>
            <a:normAutofit fontScale="90000"/>
          </a:bodyPr>
          <a:lstStyle/>
          <a:p>
            <a:pPr algn="ctr"/>
            <a:br>
              <a:rPr lang="en-IN" b="1" dirty="0"/>
            </a:br>
            <a:br>
              <a:rPr lang="en-IN" b="1" dirty="0"/>
            </a:br>
            <a:br>
              <a:rPr lang="en-IN" b="1" dirty="0"/>
            </a:br>
            <a:r>
              <a:rPr lang="en-IN" b="1" dirty="0">
                <a:latin typeface="Agency FB" panose="020B0503020202020204" pitchFamily="34" charset="0"/>
              </a:rPr>
              <a:t>Problem Statement</a:t>
            </a:r>
            <a:br>
              <a:rPr lang="en-IN" b="1" dirty="0"/>
            </a:br>
            <a:br>
              <a:rPr lang="en-IN" b="1" dirty="0"/>
            </a:br>
            <a:endParaRPr lang="en-IN" b="1" dirty="0"/>
          </a:p>
        </p:txBody>
      </p:sp>
      <p:sp>
        <p:nvSpPr>
          <p:cNvPr id="3" name="Content Placeholder 2">
            <a:extLst>
              <a:ext uri="{FF2B5EF4-FFF2-40B4-BE49-F238E27FC236}">
                <a16:creationId xmlns:a16="http://schemas.microsoft.com/office/drawing/2014/main" id="{E0234CFE-10AF-33BA-32FD-3D33FA735F87}"/>
              </a:ext>
            </a:extLst>
          </p:cNvPr>
          <p:cNvSpPr>
            <a:spLocks noGrp="1"/>
          </p:cNvSpPr>
          <p:nvPr>
            <p:ph idx="1"/>
          </p:nvPr>
        </p:nvSpPr>
        <p:spPr>
          <a:xfrm>
            <a:off x="931333" y="1806576"/>
            <a:ext cx="10515600" cy="4351338"/>
          </a:xfrm>
        </p:spPr>
        <p:txBody>
          <a:bodyPr>
            <a:normAutofit/>
          </a:bodyPr>
          <a:lstStyle/>
          <a:p>
            <a:pPr lvl="0"/>
            <a:r>
              <a:rPr lang="en-IN" sz="2400" dirty="0">
                <a:latin typeface="Agency FB" panose="020B0503020202020204" pitchFamily="34" charset="0"/>
              </a:rPr>
              <a:t>Objective: Help the bank reduce customer churn, improve service delivery, and enhance overall customer satisfaction</a:t>
            </a:r>
          </a:p>
          <a:p>
            <a:pPr lvl="0"/>
            <a:r>
              <a:rPr lang="en-IN" sz="2400" dirty="0">
                <a:latin typeface="Agency FB" panose="020B0503020202020204" pitchFamily="34" charset="0"/>
              </a:rPr>
              <a:t>Data provided: Customer demographics, account and transaction details, exit information, and active customer profiles</a:t>
            </a:r>
          </a:p>
          <a:p>
            <a:pPr lvl="0"/>
            <a:r>
              <a:rPr lang="en-IN" sz="2400" dirty="0">
                <a:latin typeface="Agency FB" panose="020B0503020202020204" pitchFamily="34" charset="0"/>
              </a:rPr>
              <a:t>Core challenge: Identify why customers are leaving and which segments are most at risk</a:t>
            </a:r>
          </a:p>
          <a:p>
            <a:pPr lvl="0"/>
            <a:r>
              <a:rPr lang="en-IN" sz="2400" dirty="0">
                <a:latin typeface="Agency FB" panose="020B0503020202020204" pitchFamily="34" charset="0"/>
              </a:rPr>
              <a:t>Analysis goal: Uncover the key drivers behind customer attrition through data exploration and segmentation</a:t>
            </a:r>
          </a:p>
          <a:p>
            <a:pPr lvl="0"/>
            <a:r>
              <a:rPr lang="en-IN" sz="2400" dirty="0">
                <a:latin typeface="Agency FB" panose="020B0503020202020204" pitchFamily="34" charset="0"/>
              </a:rPr>
              <a:t>Expected outcome: Translate findings into actionable, data-backed strategies to retain valuable customers and strengthen long-term relationships</a:t>
            </a:r>
          </a:p>
          <a:p>
            <a:pPr marL="0" indent="0">
              <a:buNone/>
            </a:pPr>
            <a:endParaRPr lang="en-IN" dirty="0">
              <a:latin typeface="Agency FB" panose="020B0503020202020204" pitchFamily="34" charset="0"/>
            </a:endParaRPr>
          </a:p>
        </p:txBody>
      </p:sp>
      <p:pic>
        <p:nvPicPr>
          <p:cNvPr id="7" name="Picture 6">
            <a:extLst>
              <a:ext uri="{FF2B5EF4-FFF2-40B4-BE49-F238E27FC236}">
                <a16:creationId xmlns:a16="http://schemas.microsoft.com/office/drawing/2014/main" id="{DA730123-861E-CFBF-7FE6-1B334C750462}"/>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358627" y="-159618"/>
            <a:ext cx="1850306" cy="1850306"/>
          </a:xfrm>
          <a:prstGeom prst="rect">
            <a:avLst/>
          </a:prstGeom>
        </p:spPr>
      </p:pic>
    </p:spTree>
    <p:extLst>
      <p:ext uri="{BB962C8B-B14F-4D97-AF65-F5344CB8AC3E}">
        <p14:creationId xmlns:p14="http://schemas.microsoft.com/office/powerpoint/2010/main" val="2772023373"/>
      </p:ext>
    </p:extLst>
  </p:cSld>
  <p:clrMapOvr>
    <a:overrideClrMapping bg1="dk1" tx1="lt1" bg2="dk2" tx2="lt2" accent1="accent1" accent2="accent2" accent3="accent3" accent4="accent4" accent5="accent5" accent6="accent6" hlink="hlink" folHlink="folHlink"/>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002060">
            <a:alpha val="80000"/>
          </a:srgbClr>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78F3AEC-DB97-AFA3-C858-5EB903D1FA23}"/>
              </a:ext>
            </a:extLst>
          </p:cNvPr>
          <p:cNvSpPr>
            <a:spLocks noGrp="1"/>
          </p:cNvSpPr>
          <p:nvPr>
            <p:ph type="title"/>
          </p:nvPr>
        </p:nvSpPr>
        <p:spPr/>
        <p:txBody>
          <a:bodyPr/>
          <a:lstStyle/>
          <a:p>
            <a:pPr algn="ctr"/>
            <a:r>
              <a:rPr lang="en-IN" sz="4000" b="1" dirty="0">
                <a:latin typeface="Agency FB" panose="020B0503020202020204" pitchFamily="34" charset="0"/>
              </a:rPr>
              <a:t>Dataset Overview</a:t>
            </a:r>
            <a:endParaRPr lang="en-IN" b="1" dirty="0">
              <a:latin typeface="Agency FB" panose="020B0503020202020204" pitchFamily="34" charset="0"/>
            </a:endParaRPr>
          </a:p>
        </p:txBody>
      </p:sp>
      <p:pic>
        <p:nvPicPr>
          <p:cNvPr id="5" name="Content Placeholder 4">
            <a:extLst>
              <a:ext uri="{FF2B5EF4-FFF2-40B4-BE49-F238E27FC236}">
                <a16:creationId xmlns:a16="http://schemas.microsoft.com/office/drawing/2014/main" id="{0F7E190B-63AC-6E72-ADE7-1FC139817B6C}"/>
              </a:ext>
            </a:extLst>
          </p:cNvPr>
          <p:cNvPicPr>
            <a:picLocks noGrp="1" noChangeAspect="1"/>
          </p:cNvPicPr>
          <p:nvPr>
            <p:ph idx="1"/>
          </p:nvPr>
        </p:nvPicPr>
        <p:blipFill>
          <a:blip r:embed="rId3"/>
          <a:stretch>
            <a:fillRect/>
          </a:stretch>
        </p:blipFill>
        <p:spPr>
          <a:xfrm>
            <a:off x="1439333" y="1549400"/>
            <a:ext cx="8678333" cy="4749800"/>
          </a:xfrm>
          <a:prstGeom prst="rect">
            <a:avLst/>
          </a:prstGeom>
        </p:spPr>
      </p:pic>
      <p:pic>
        <p:nvPicPr>
          <p:cNvPr id="7" name="Picture 6">
            <a:extLst>
              <a:ext uri="{FF2B5EF4-FFF2-40B4-BE49-F238E27FC236}">
                <a16:creationId xmlns:a16="http://schemas.microsoft.com/office/drawing/2014/main" id="{303BC9A5-5CB8-250A-63A9-D30DC03C6092}"/>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0409020" y="-154204"/>
            <a:ext cx="1782980" cy="1782980"/>
          </a:xfrm>
          <a:prstGeom prst="rect">
            <a:avLst/>
          </a:prstGeom>
        </p:spPr>
      </p:pic>
    </p:spTree>
    <p:extLst>
      <p:ext uri="{BB962C8B-B14F-4D97-AF65-F5344CB8AC3E}">
        <p14:creationId xmlns:p14="http://schemas.microsoft.com/office/powerpoint/2010/main" val="370776149"/>
      </p:ext>
    </p:extLst>
  </p:cSld>
  <p:clrMapOvr>
    <a:overrideClrMapping bg1="dk1" tx1="lt1" bg2="dk2" tx2="lt2" accent1="accent1" accent2="accent2" accent3="accent3" accent4="accent4" accent5="accent5" accent6="accent6" hlink="hlink" folHlink="folHlink"/>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002060">
            <a:alpha val="80000"/>
          </a:srgbClr>
        </a:solidFill>
        <a:effectLst/>
      </p:bgPr>
    </p:bg>
    <p:spTree>
      <p:nvGrpSpPr>
        <p:cNvPr id="1" name="">
          <a:extLst>
            <a:ext uri="{FF2B5EF4-FFF2-40B4-BE49-F238E27FC236}">
              <a16:creationId xmlns:a16="http://schemas.microsoft.com/office/drawing/2014/main" id="{44E0DB3C-3C95-DEBC-7325-6EA9C3A29DA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AFE9A0F-810A-9571-1D19-9943805AA868}"/>
              </a:ext>
            </a:extLst>
          </p:cNvPr>
          <p:cNvSpPr>
            <a:spLocks noGrp="1"/>
          </p:cNvSpPr>
          <p:nvPr>
            <p:ph type="title"/>
          </p:nvPr>
        </p:nvSpPr>
        <p:spPr/>
        <p:txBody>
          <a:bodyPr/>
          <a:lstStyle/>
          <a:p>
            <a:pPr algn="ctr"/>
            <a:r>
              <a:rPr lang="en-IN" sz="4000" b="1" dirty="0">
                <a:latin typeface="Agency FB" panose="020B0503020202020204" pitchFamily="34" charset="0"/>
              </a:rPr>
              <a:t>Data Description</a:t>
            </a:r>
            <a:endParaRPr lang="en-IN" b="1" dirty="0">
              <a:latin typeface="Agency FB" panose="020B0503020202020204" pitchFamily="34" charset="0"/>
            </a:endParaRPr>
          </a:p>
        </p:txBody>
      </p:sp>
      <p:sp>
        <p:nvSpPr>
          <p:cNvPr id="3" name="Content Placeholder 2">
            <a:extLst>
              <a:ext uri="{FF2B5EF4-FFF2-40B4-BE49-F238E27FC236}">
                <a16:creationId xmlns:a16="http://schemas.microsoft.com/office/drawing/2014/main" id="{452CABF9-667E-ABB5-0753-8F1BCD8A74FA}"/>
              </a:ext>
            </a:extLst>
          </p:cNvPr>
          <p:cNvSpPr>
            <a:spLocks noGrp="1"/>
          </p:cNvSpPr>
          <p:nvPr>
            <p:ph idx="1"/>
          </p:nvPr>
        </p:nvSpPr>
        <p:spPr>
          <a:xfrm>
            <a:off x="838200" y="1590675"/>
            <a:ext cx="10701867" cy="4902200"/>
          </a:xfrm>
        </p:spPr>
        <p:txBody>
          <a:bodyPr>
            <a:normAutofit/>
          </a:bodyPr>
          <a:lstStyle/>
          <a:p>
            <a:r>
              <a:rPr lang="en-IN" sz="2400" dirty="0">
                <a:latin typeface="Agency FB" panose="020B0503020202020204" pitchFamily="34" charset="0"/>
              </a:rPr>
              <a:t>Bank_Churn: Core fact table with 10,000 records covering CreditScore, Tenure, Balance, NumOfProducts, HasCrCard, IsActiveMember, and Exited status.</a:t>
            </a:r>
          </a:p>
          <a:p>
            <a:r>
              <a:rPr lang="en-IN" sz="2400" dirty="0">
                <a:latin typeface="Agency FB" panose="020B0503020202020204" pitchFamily="34" charset="0"/>
              </a:rPr>
              <a:t>CustomerInfo: 10,000 customer profiles with Surname, Age, EstimatedSalary, GeographyID, GenderID, and Bank DOJ (date of joining).</a:t>
            </a:r>
          </a:p>
          <a:p>
            <a:r>
              <a:rPr lang="en-IN" sz="2400" dirty="0">
                <a:latin typeface="Agency FB" panose="020B0503020202020204" pitchFamily="34" charset="0"/>
              </a:rPr>
              <a:t> Gender: Lookup table mapping GenderID to Male/Female categories.</a:t>
            </a:r>
          </a:p>
          <a:p>
            <a:r>
              <a:rPr lang="en-IN" sz="2400" dirty="0">
                <a:latin typeface="Agency FB" panose="020B0503020202020204" pitchFamily="34" charset="0"/>
              </a:rPr>
              <a:t> Geography: Lookup table mapping GeographyID to France, Spain, and Germany.</a:t>
            </a:r>
          </a:p>
          <a:p>
            <a:r>
              <a:rPr lang="en-IN" sz="2400" dirty="0">
                <a:latin typeface="Agency FB" panose="020B0503020202020204" pitchFamily="34" charset="0"/>
              </a:rPr>
              <a:t>CreditCard: Lookup table mapping HasCrCard values to "credit card holder" or "non credit card holder" labels.</a:t>
            </a:r>
          </a:p>
          <a:p>
            <a:r>
              <a:rPr lang="en-IN" sz="2400" dirty="0">
                <a:latin typeface="Agency FB" panose="020B0503020202020204" pitchFamily="34" charset="0"/>
              </a:rPr>
              <a:t>ActiveCustomer: Lookup table mapping IsActiveMember values to "Active Member" or "Inactive Member" status.</a:t>
            </a:r>
          </a:p>
          <a:p>
            <a:r>
              <a:rPr lang="en-IN" sz="2400" dirty="0">
                <a:latin typeface="Agency FB" panose="020B0503020202020204" pitchFamily="34" charset="0"/>
              </a:rPr>
              <a:t>ExitCustomer: Lookup table mapping Exited values to "Exit" or "Retain" outcome categories.</a:t>
            </a:r>
          </a:p>
        </p:txBody>
      </p:sp>
      <p:pic>
        <p:nvPicPr>
          <p:cNvPr id="5" name="Picture 4">
            <a:extLst>
              <a:ext uri="{FF2B5EF4-FFF2-40B4-BE49-F238E27FC236}">
                <a16:creationId xmlns:a16="http://schemas.microsoft.com/office/drawing/2014/main" id="{9DF37EE6-0129-DA6B-2F11-7548B36689E1}"/>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409020" y="-154204"/>
            <a:ext cx="1782980" cy="1782980"/>
          </a:xfrm>
          <a:prstGeom prst="rect">
            <a:avLst/>
          </a:prstGeom>
        </p:spPr>
      </p:pic>
    </p:spTree>
    <p:extLst>
      <p:ext uri="{BB962C8B-B14F-4D97-AF65-F5344CB8AC3E}">
        <p14:creationId xmlns:p14="http://schemas.microsoft.com/office/powerpoint/2010/main" val="49194963"/>
      </p:ext>
    </p:extLst>
  </p:cSld>
  <p:clrMapOvr>
    <a:overrideClrMapping bg1="dk1" tx1="lt1" bg2="dk2" tx2="lt2" accent1="accent1" accent2="accent2" accent3="accent3" accent4="accent4" accent5="accent5" accent6="accent6" hlink="hlink" folHlink="folHlink"/>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002060">
            <a:alpha val="80000"/>
          </a:srgbClr>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56BF100-7405-D225-DC34-D08D70B6AD7C}"/>
              </a:ext>
            </a:extLst>
          </p:cNvPr>
          <p:cNvSpPr>
            <a:spLocks noGrp="1"/>
          </p:cNvSpPr>
          <p:nvPr>
            <p:ph type="title"/>
          </p:nvPr>
        </p:nvSpPr>
        <p:spPr/>
        <p:txBody>
          <a:bodyPr/>
          <a:lstStyle/>
          <a:p>
            <a:pPr algn="ctr"/>
            <a:r>
              <a:rPr lang="en-IN" sz="4000" b="1" dirty="0">
                <a:latin typeface="Agency FB" panose="020B0503020202020204" pitchFamily="34" charset="0"/>
              </a:rPr>
              <a:t>Key Metrics at a Glance</a:t>
            </a:r>
            <a:br>
              <a:rPr lang="en-IN" dirty="0"/>
            </a:br>
            <a:endParaRPr lang="en-IN" dirty="0"/>
          </a:p>
        </p:txBody>
      </p:sp>
      <p:pic>
        <p:nvPicPr>
          <p:cNvPr id="5" name="Content Placeholder 4">
            <a:extLst>
              <a:ext uri="{FF2B5EF4-FFF2-40B4-BE49-F238E27FC236}">
                <a16:creationId xmlns:a16="http://schemas.microsoft.com/office/drawing/2014/main" id="{A55C2F5B-1C64-98CF-66B9-46551B2D3F8D}"/>
              </a:ext>
            </a:extLst>
          </p:cNvPr>
          <p:cNvPicPr>
            <a:picLocks noGrp="1" noChangeAspect="1"/>
          </p:cNvPicPr>
          <p:nvPr>
            <p:ph idx="1"/>
          </p:nvPr>
        </p:nvPicPr>
        <p:blipFill>
          <a:blip r:embed="rId3"/>
          <a:stretch>
            <a:fillRect/>
          </a:stretch>
        </p:blipFill>
        <p:spPr>
          <a:xfrm>
            <a:off x="1041401" y="1252285"/>
            <a:ext cx="9948332" cy="1042181"/>
          </a:xfrm>
          <a:prstGeom prst="rect">
            <a:avLst/>
          </a:prstGeom>
        </p:spPr>
      </p:pic>
      <p:sp>
        <p:nvSpPr>
          <p:cNvPr id="7" name="TextBox 6">
            <a:extLst>
              <a:ext uri="{FF2B5EF4-FFF2-40B4-BE49-F238E27FC236}">
                <a16:creationId xmlns:a16="http://schemas.microsoft.com/office/drawing/2014/main" id="{AADCDA35-3E85-F000-62DC-02EFFE19B64E}"/>
              </a:ext>
            </a:extLst>
          </p:cNvPr>
          <p:cNvSpPr txBox="1"/>
          <p:nvPr/>
        </p:nvSpPr>
        <p:spPr>
          <a:xfrm>
            <a:off x="1955801" y="2416982"/>
            <a:ext cx="9948331" cy="4154984"/>
          </a:xfrm>
          <a:prstGeom prst="rect">
            <a:avLst/>
          </a:prstGeom>
          <a:noFill/>
        </p:spPr>
        <p:txBody>
          <a:bodyPr wrap="square">
            <a:spAutoFit/>
          </a:bodyPr>
          <a:lstStyle/>
          <a:p>
            <a:pPr rtl="0">
              <a:buNone/>
            </a:pPr>
            <a:r>
              <a:rPr lang="en-IN" sz="2400" dirty="0">
                <a:latin typeface="Agency FB" panose="020B0503020202020204" pitchFamily="34" charset="0"/>
              </a:rPr>
              <a:t>10,000 — Total Customers</a:t>
            </a:r>
          </a:p>
          <a:p>
            <a:pPr marL="342900" lvl="0" indent="-342900" rtl="0">
              <a:buFont typeface="Arial" panose="020B0604020202020204" pitchFamily="34" charset="0"/>
              <a:buChar char="•"/>
            </a:pPr>
            <a:r>
              <a:rPr lang="en-IN" sz="2400" dirty="0">
                <a:latin typeface="Agency FB" panose="020B0503020202020204" pitchFamily="34" charset="0"/>
              </a:rPr>
              <a:t>Full customer base analyzed across France, Germany, and Spain</a:t>
            </a:r>
          </a:p>
          <a:p>
            <a:pPr rtl="0">
              <a:buNone/>
            </a:pPr>
            <a:r>
              <a:rPr lang="en-IN" sz="2400" dirty="0">
                <a:latin typeface="Agency FB" panose="020B0503020202020204" pitchFamily="34" charset="0"/>
              </a:rPr>
              <a:t>20.37% — Overall Churn Rate</a:t>
            </a:r>
          </a:p>
          <a:p>
            <a:pPr marL="342900" lvl="0" indent="-342900" rtl="0">
              <a:buFont typeface="Arial" panose="020B0604020202020204" pitchFamily="34" charset="0"/>
              <a:buChar char="•"/>
            </a:pPr>
            <a:r>
              <a:rPr lang="en-IN" sz="2400" dirty="0">
                <a:latin typeface="Agency FB" panose="020B0503020202020204" pitchFamily="34" charset="0"/>
              </a:rPr>
              <a:t>Roughly 1 in 5 customers has left the bank — a significant retention challenge</a:t>
            </a:r>
          </a:p>
          <a:p>
            <a:pPr rtl="0">
              <a:buNone/>
            </a:pPr>
            <a:r>
              <a:rPr lang="en-IN" sz="2400" dirty="0">
                <a:latin typeface="Agency FB" panose="020B0503020202020204" pitchFamily="34" charset="0"/>
              </a:rPr>
              <a:t>5,151 — Active Members</a:t>
            </a:r>
          </a:p>
          <a:p>
            <a:pPr marL="342900" lvl="0" indent="-342900" rtl="0">
              <a:buFont typeface="Arial" panose="020B0604020202020204" pitchFamily="34" charset="0"/>
              <a:buChar char="•"/>
            </a:pPr>
            <a:r>
              <a:rPr lang="en-IN" sz="2400" dirty="0">
                <a:latin typeface="Agency FB" panose="020B0503020202020204" pitchFamily="34" charset="0"/>
              </a:rPr>
              <a:t>Just over half the customer base is actively engaged with the bank</a:t>
            </a:r>
          </a:p>
          <a:p>
            <a:pPr rtl="0">
              <a:buNone/>
            </a:pPr>
            <a:r>
              <a:rPr lang="en-IN" sz="2400" dirty="0">
                <a:latin typeface="Agency FB" panose="020B0503020202020204" pitchFamily="34" charset="0"/>
              </a:rPr>
              <a:t>₹76,485.89 — Average Account Balance</a:t>
            </a:r>
          </a:p>
          <a:p>
            <a:pPr marL="342900" lvl="0" indent="-342900" rtl="0">
              <a:buFont typeface="Arial" panose="020B0604020202020204" pitchFamily="34" charset="0"/>
              <a:buChar char="•"/>
            </a:pPr>
            <a:r>
              <a:rPr lang="en-IN" sz="2400" dirty="0">
                <a:latin typeface="Agency FB" panose="020B0503020202020204" pitchFamily="34" charset="0"/>
              </a:rPr>
              <a:t>Reflects the average value held per customer across all regions</a:t>
            </a:r>
          </a:p>
          <a:p>
            <a:pPr rtl="0">
              <a:buNone/>
            </a:pPr>
            <a:r>
              <a:rPr lang="en-IN" sz="2400" dirty="0">
                <a:latin typeface="Agency FB" panose="020B0503020202020204" pitchFamily="34" charset="0"/>
              </a:rPr>
              <a:t>2,037 — Customers Churned</a:t>
            </a:r>
          </a:p>
          <a:p>
            <a:pPr marL="342900" lvl="0" indent="-342900" rtl="0">
              <a:buFont typeface="Arial" panose="020B0604020202020204" pitchFamily="34" charset="0"/>
              <a:buChar char="•"/>
            </a:pPr>
            <a:r>
              <a:rPr lang="en-IN" sz="2400" dirty="0">
                <a:latin typeface="Agency FB" panose="020B0503020202020204" pitchFamily="34" charset="0"/>
              </a:rPr>
              <a:t>Represents the total number of lost customers, including a disproportionate share of high-balance clients</a:t>
            </a:r>
          </a:p>
        </p:txBody>
      </p:sp>
      <p:pic>
        <p:nvPicPr>
          <p:cNvPr id="9" name="Picture 8">
            <a:extLst>
              <a:ext uri="{FF2B5EF4-FFF2-40B4-BE49-F238E27FC236}">
                <a16:creationId xmlns:a16="http://schemas.microsoft.com/office/drawing/2014/main" id="{E6E2312A-3136-00BB-F84D-A8D23E162BA9}"/>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0735734" y="-91884"/>
            <a:ext cx="1456266" cy="1456266"/>
          </a:xfrm>
          <a:prstGeom prst="rect">
            <a:avLst/>
          </a:prstGeom>
        </p:spPr>
      </p:pic>
    </p:spTree>
    <p:extLst>
      <p:ext uri="{BB962C8B-B14F-4D97-AF65-F5344CB8AC3E}">
        <p14:creationId xmlns:p14="http://schemas.microsoft.com/office/powerpoint/2010/main" val="1620501029"/>
      </p:ext>
    </p:extLst>
  </p:cSld>
  <p:clrMapOvr>
    <a:overrideClrMapping bg1="dk1" tx1="lt1" bg2="dk2" tx2="lt2" accent1="accent1" accent2="accent2" accent3="accent3" accent4="accent4" accent5="accent5" accent6="accent6" hlink="hlink" folHlink="folHlink"/>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002060">
            <a:alpha val="80000"/>
          </a:srgbClr>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6DB1891-7654-1C90-17AA-A48401C3F8D9}"/>
              </a:ext>
            </a:extLst>
          </p:cNvPr>
          <p:cNvSpPr>
            <a:spLocks noGrp="1"/>
          </p:cNvSpPr>
          <p:nvPr>
            <p:ph type="title"/>
          </p:nvPr>
        </p:nvSpPr>
        <p:spPr/>
        <p:txBody>
          <a:bodyPr/>
          <a:lstStyle/>
          <a:p>
            <a:pPr algn="ctr"/>
            <a:r>
              <a:rPr lang="en-IN" sz="4000" b="1" dirty="0">
                <a:latin typeface="Agency FB" panose="020B0503020202020204" pitchFamily="34" charset="0"/>
              </a:rPr>
              <a:t>Churn Trend Over Time</a:t>
            </a:r>
            <a:endParaRPr lang="en-IN" b="1" dirty="0">
              <a:latin typeface="Agency FB" panose="020B0503020202020204" pitchFamily="34" charset="0"/>
            </a:endParaRPr>
          </a:p>
        </p:txBody>
      </p:sp>
      <p:pic>
        <p:nvPicPr>
          <p:cNvPr id="5" name="Content Placeholder 4">
            <a:extLst>
              <a:ext uri="{FF2B5EF4-FFF2-40B4-BE49-F238E27FC236}">
                <a16:creationId xmlns:a16="http://schemas.microsoft.com/office/drawing/2014/main" id="{AD38B4E3-5EB0-A8D4-9239-4325FB534884}"/>
              </a:ext>
            </a:extLst>
          </p:cNvPr>
          <p:cNvPicPr>
            <a:picLocks noGrp="1" noChangeAspect="1"/>
          </p:cNvPicPr>
          <p:nvPr>
            <p:ph idx="1"/>
          </p:nvPr>
        </p:nvPicPr>
        <p:blipFill>
          <a:blip r:embed="rId3"/>
          <a:stretch>
            <a:fillRect/>
          </a:stretch>
        </p:blipFill>
        <p:spPr>
          <a:xfrm>
            <a:off x="7474236" y="1550505"/>
            <a:ext cx="3761031" cy="3927429"/>
          </a:xfrm>
          <a:prstGeom prst="rect">
            <a:avLst/>
          </a:prstGeom>
        </p:spPr>
      </p:pic>
      <p:sp>
        <p:nvSpPr>
          <p:cNvPr id="7" name="TextBox 6">
            <a:extLst>
              <a:ext uri="{FF2B5EF4-FFF2-40B4-BE49-F238E27FC236}">
                <a16:creationId xmlns:a16="http://schemas.microsoft.com/office/drawing/2014/main" id="{146CC5A7-818C-90D1-2A6C-D4BDDC76E1E8}"/>
              </a:ext>
            </a:extLst>
          </p:cNvPr>
          <p:cNvSpPr txBox="1"/>
          <p:nvPr/>
        </p:nvSpPr>
        <p:spPr>
          <a:xfrm>
            <a:off x="956733" y="1217136"/>
            <a:ext cx="6096000" cy="4062651"/>
          </a:xfrm>
          <a:prstGeom prst="rect">
            <a:avLst/>
          </a:prstGeom>
          <a:noFill/>
        </p:spPr>
        <p:txBody>
          <a:bodyPr wrap="square">
            <a:spAutoFit/>
          </a:bodyPr>
          <a:lstStyle/>
          <a:p>
            <a:pPr lvl="0"/>
            <a:endParaRPr lang="en-IN" dirty="0"/>
          </a:p>
          <a:p>
            <a:pPr lvl="0"/>
            <a:endParaRPr lang="en-IN" sz="2400" dirty="0">
              <a:latin typeface="Agency FB" panose="020B0503020202020204" pitchFamily="34" charset="0"/>
            </a:endParaRPr>
          </a:p>
          <a:p>
            <a:pPr lvl="0"/>
            <a:r>
              <a:rPr lang="en-IN" sz="2400" dirty="0">
                <a:latin typeface="Agency FB" panose="020B0503020202020204" pitchFamily="34" charset="0"/>
              </a:rPr>
              <a:t>"Churn peaked in 2017 at 22.35% and has gradually declined since, but remains close to 20% overall — the underlying churn problem has not been resolved, only stabilized."</a:t>
            </a:r>
          </a:p>
          <a:p>
            <a:pPr marL="342900" lvl="0" indent="-342900">
              <a:buFont typeface="Arial" panose="020B0604020202020204" pitchFamily="34" charset="0"/>
              <a:buChar char="•"/>
            </a:pPr>
            <a:endParaRPr lang="en-IN" sz="2400" dirty="0">
              <a:latin typeface="Agency FB" panose="020B0503020202020204" pitchFamily="34" charset="0"/>
            </a:endParaRPr>
          </a:p>
          <a:p>
            <a:pPr marL="285750" lvl="0" indent="-285750">
              <a:buFont typeface="Arial" panose="020B0604020202020204" pitchFamily="34" charset="0"/>
              <a:buChar char="•"/>
            </a:pPr>
            <a:r>
              <a:rPr lang="en-IN" sz="2400" dirty="0">
                <a:latin typeface="Agency FB" panose="020B0503020202020204" pitchFamily="34" charset="0"/>
              </a:rPr>
              <a:t>Churn rate spiked sharply in the 2017 customer cohort</a:t>
            </a:r>
          </a:p>
          <a:p>
            <a:pPr marL="342900" lvl="0" indent="-342900">
              <a:buFont typeface="Arial" panose="020B0604020202020204" pitchFamily="34" charset="0"/>
              <a:buChar char="•"/>
            </a:pPr>
            <a:r>
              <a:rPr lang="en-IN" sz="2400" dirty="0">
                <a:latin typeface="Agency FB" panose="020B0503020202020204" pitchFamily="34" charset="0"/>
              </a:rPr>
              <a:t>A gradual improvement followed in 2018–2019, but rates remain historically high</a:t>
            </a:r>
          </a:p>
          <a:p>
            <a:pPr marL="342900" lvl="0" indent="-342900">
              <a:buFont typeface="Arial" panose="020B0604020202020204" pitchFamily="34" charset="0"/>
              <a:buChar char="•"/>
            </a:pPr>
            <a:r>
              <a:rPr lang="en-IN" sz="2400" dirty="0">
                <a:latin typeface="Agency FB" panose="020B0503020202020204" pitchFamily="34" charset="0"/>
              </a:rPr>
              <a:t>No single year shows churn dropping below ~19% — the problem is persistent, not one-time</a:t>
            </a:r>
          </a:p>
        </p:txBody>
      </p:sp>
      <p:pic>
        <p:nvPicPr>
          <p:cNvPr id="9" name="Picture 8">
            <a:extLst>
              <a:ext uri="{FF2B5EF4-FFF2-40B4-BE49-F238E27FC236}">
                <a16:creationId xmlns:a16="http://schemas.microsoft.com/office/drawing/2014/main" id="{8A003A9B-B455-12EC-8360-C54551C26380}"/>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0735734" y="-91884"/>
            <a:ext cx="1456266" cy="1456266"/>
          </a:xfrm>
          <a:prstGeom prst="rect">
            <a:avLst/>
          </a:prstGeom>
        </p:spPr>
      </p:pic>
    </p:spTree>
    <p:extLst>
      <p:ext uri="{BB962C8B-B14F-4D97-AF65-F5344CB8AC3E}">
        <p14:creationId xmlns:p14="http://schemas.microsoft.com/office/powerpoint/2010/main" val="1464387963"/>
      </p:ext>
    </p:extLst>
  </p:cSld>
  <p:clrMapOvr>
    <a:overrideClrMapping bg1="dk1" tx1="lt1" bg2="dk2" tx2="lt2" accent1="accent1" accent2="accent2" accent3="accent3" accent4="accent4" accent5="accent5" accent6="accent6" hlink="hlink" folHlink="folHlink"/>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002060">
            <a:alpha val="80000"/>
          </a:srgbClr>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AE00817-1E1E-ECF8-A04E-05A55A90F0AE}"/>
              </a:ext>
            </a:extLst>
          </p:cNvPr>
          <p:cNvSpPr>
            <a:spLocks noGrp="1"/>
          </p:cNvSpPr>
          <p:nvPr>
            <p:ph type="title"/>
          </p:nvPr>
        </p:nvSpPr>
        <p:spPr/>
        <p:txBody>
          <a:bodyPr>
            <a:normAutofit/>
          </a:bodyPr>
          <a:lstStyle/>
          <a:p>
            <a:pPr algn="ctr"/>
            <a:r>
              <a:rPr lang="en-IN" sz="4000" b="1" dirty="0">
                <a:latin typeface="Agency FB" panose="020B0503020202020204" pitchFamily="34" charset="0"/>
              </a:rPr>
              <a:t>Geographic Risk</a:t>
            </a:r>
          </a:p>
        </p:txBody>
      </p:sp>
      <p:pic>
        <p:nvPicPr>
          <p:cNvPr id="5" name="Content Placeholder 4">
            <a:extLst>
              <a:ext uri="{FF2B5EF4-FFF2-40B4-BE49-F238E27FC236}">
                <a16:creationId xmlns:a16="http://schemas.microsoft.com/office/drawing/2014/main" id="{56D7A9E9-82BE-B977-51D8-147EB5245973}"/>
              </a:ext>
            </a:extLst>
          </p:cNvPr>
          <p:cNvPicPr>
            <a:picLocks noGrp="1" noChangeAspect="1"/>
          </p:cNvPicPr>
          <p:nvPr>
            <p:ph idx="1"/>
          </p:nvPr>
        </p:nvPicPr>
        <p:blipFill>
          <a:blip r:embed="rId3"/>
          <a:stretch>
            <a:fillRect/>
          </a:stretch>
        </p:blipFill>
        <p:spPr>
          <a:xfrm>
            <a:off x="7857067" y="1690687"/>
            <a:ext cx="3659437" cy="3609445"/>
          </a:xfrm>
          <a:prstGeom prst="rect">
            <a:avLst/>
          </a:prstGeom>
        </p:spPr>
      </p:pic>
      <p:sp>
        <p:nvSpPr>
          <p:cNvPr id="7" name="TextBox 6">
            <a:extLst>
              <a:ext uri="{FF2B5EF4-FFF2-40B4-BE49-F238E27FC236}">
                <a16:creationId xmlns:a16="http://schemas.microsoft.com/office/drawing/2014/main" id="{82765779-1B77-6F6E-F46F-F7D33F66C7B5}"/>
              </a:ext>
            </a:extLst>
          </p:cNvPr>
          <p:cNvSpPr txBox="1"/>
          <p:nvPr/>
        </p:nvSpPr>
        <p:spPr>
          <a:xfrm>
            <a:off x="931333" y="1387562"/>
            <a:ext cx="6544734" cy="4893647"/>
          </a:xfrm>
          <a:prstGeom prst="rect">
            <a:avLst/>
          </a:prstGeom>
          <a:noFill/>
        </p:spPr>
        <p:txBody>
          <a:bodyPr wrap="square">
            <a:spAutoFit/>
          </a:bodyPr>
          <a:lstStyle/>
          <a:p>
            <a:r>
              <a:rPr lang="en-IN" sz="2400" dirty="0">
                <a:latin typeface="Agency FB" panose="020B0503020202020204" pitchFamily="34" charset="0"/>
              </a:rPr>
              <a:t>"Germany's churn rate is roughly double that of France and Spain — making geography one of the single strongest predictors of customer attrition in this dataset.“</a:t>
            </a:r>
          </a:p>
          <a:p>
            <a:endParaRPr lang="en-IN" sz="2400" dirty="0">
              <a:latin typeface="Agency FB" panose="020B0503020202020204" pitchFamily="34" charset="0"/>
            </a:endParaRPr>
          </a:p>
          <a:p>
            <a:pPr marL="285750" lvl="0" indent="-285750">
              <a:buFont typeface="Arial" panose="020B0604020202020204" pitchFamily="34" charset="0"/>
              <a:buChar char="•"/>
            </a:pPr>
            <a:r>
              <a:rPr lang="en-IN" sz="2400" dirty="0">
                <a:latin typeface="Agency FB" panose="020B0503020202020204" pitchFamily="34" charset="0"/>
              </a:rPr>
              <a:t>Germany also holds the </a:t>
            </a:r>
            <a:r>
              <a:rPr lang="en-IN" sz="2400" b="1" dirty="0">
                <a:latin typeface="Agency FB" panose="020B0503020202020204" pitchFamily="34" charset="0"/>
              </a:rPr>
              <a:t>highest average account balance (₹1,19,730)</a:t>
            </a:r>
            <a:r>
              <a:rPr lang="en-IN" sz="2400" dirty="0">
                <a:latin typeface="Agency FB" panose="020B0503020202020204" pitchFamily="34" charset="0"/>
              </a:rPr>
              <a:t> — meaning the bank isn't just losing more customers there, it's losing its most valuable ones</a:t>
            </a:r>
          </a:p>
          <a:p>
            <a:pPr marL="285750" lvl="0" indent="-285750">
              <a:buFont typeface="Arial" panose="020B0604020202020204" pitchFamily="34" charset="0"/>
              <a:buChar char="•"/>
            </a:pPr>
            <a:r>
              <a:rPr lang="en-IN" sz="2400" dirty="0">
                <a:latin typeface="Agency FB" panose="020B0503020202020204" pitchFamily="34" charset="0"/>
              </a:rPr>
              <a:t>France has the largest customer base (2,591 active members) and the lowest churn — showing strong retention despite lower average balances</a:t>
            </a:r>
          </a:p>
          <a:p>
            <a:pPr marL="285750" lvl="0" indent="-285750">
              <a:buFont typeface="Arial" panose="020B0604020202020204" pitchFamily="34" charset="0"/>
              <a:buChar char="•"/>
            </a:pPr>
            <a:r>
              <a:rPr lang="en-IN" sz="2400" dirty="0">
                <a:latin typeface="Agency FB" panose="020B0503020202020204" pitchFamily="34" charset="0"/>
              </a:rPr>
              <a:t>This regional gap suggests Germany-specific factors (competition, pricing, service quality) are driving attrition, not just customer demographics alone</a:t>
            </a:r>
          </a:p>
        </p:txBody>
      </p:sp>
      <p:pic>
        <p:nvPicPr>
          <p:cNvPr id="9" name="Picture 8">
            <a:extLst>
              <a:ext uri="{FF2B5EF4-FFF2-40B4-BE49-F238E27FC236}">
                <a16:creationId xmlns:a16="http://schemas.microsoft.com/office/drawing/2014/main" id="{144A75BF-C6B5-2675-78AC-19FD4D2BE381}"/>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0735734" y="-91884"/>
            <a:ext cx="1456266" cy="1456266"/>
          </a:xfrm>
          <a:prstGeom prst="rect">
            <a:avLst/>
          </a:prstGeom>
        </p:spPr>
      </p:pic>
    </p:spTree>
    <p:extLst>
      <p:ext uri="{BB962C8B-B14F-4D97-AF65-F5344CB8AC3E}">
        <p14:creationId xmlns:p14="http://schemas.microsoft.com/office/powerpoint/2010/main" val="221730104"/>
      </p:ext>
    </p:extLst>
  </p:cSld>
  <p:clrMapOvr>
    <a:overrideClrMapping bg1="dk1" tx1="lt1" bg2="dk2" tx2="lt2" accent1="accent1" accent2="accent2" accent3="accent3" accent4="accent4" accent5="accent5" accent6="accent6" hlink="hlink" folHlink="folHlink"/>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002060">
            <a:alpha val="80000"/>
          </a:srgbClr>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CA6AB1C-89C4-F524-5346-AB46E804A60B}"/>
              </a:ext>
            </a:extLst>
          </p:cNvPr>
          <p:cNvSpPr>
            <a:spLocks noGrp="1"/>
          </p:cNvSpPr>
          <p:nvPr>
            <p:ph type="title"/>
          </p:nvPr>
        </p:nvSpPr>
        <p:spPr>
          <a:xfrm>
            <a:off x="838200" y="212725"/>
            <a:ext cx="10515600" cy="1325563"/>
          </a:xfrm>
        </p:spPr>
        <p:txBody>
          <a:bodyPr/>
          <a:lstStyle/>
          <a:p>
            <a:pPr algn="ctr"/>
            <a:r>
              <a:rPr lang="en-IN" sz="4000" b="1" dirty="0">
                <a:latin typeface="Agency FB" panose="020B0503020202020204" pitchFamily="34" charset="0"/>
              </a:rPr>
              <a:t>Who Is Most Likely to Churn?</a:t>
            </a:r>
            <a:endParaRPr lang="en-IN" b="1" dirty="0">
              <a:latin typeface="Agency FB" panose="020B0503020202020204" pitchFamily="34" charset="0"/>
            </a:endParaRPr>
          </a:p>
        </p:txBody>
      </p:sp>
      <p:pic>
        <p:nvPicPr>
          <p:cNvPr id="5" name="Content Placeholder 4">
            <a:extLst>
              <a:ext uri="{FF2B5EF4-FFF2-40B4-BE49-F238E27FC236}">
                <a16:creationId xmlns:a16="http://schemas.microsoft.com/office/drawing/2014/main" id="{CD29C7B9-2715-F920-8843-31BA475D29F6}"/>
              </a:ext>
            </a:extLst>
          </p:cNvPr>
          <p:cNvPicPr>
            <a:picLocks noGrp="1" noChangeAspect="1"/>
          </p:cNvPicPr>
          <p:nvPr>
            <p:ph idx="1"/>
          </p:nvPr>
        </p:nvPicPr>
        <p:blipFill>
          <a:blip r:embed="rId3"/>
          <a:stretch>
            <a:fillRect/>
          </a:stretch>
        </p:blipFill>
        <p:spPr>
          <a:xfrm>
            <a:off x="8109164" y="1675879"/>
            <a:ext cx="3482642" cy="1325562"/>
          </a:xfrm>
          <a:prstGeom prst="rect">
            <a:avLst/>
          </a:prstGeom>
        </p:spPr>
      </p:pic>
      <p:pic>
        <p:nvPicPr>
          <p:cNvPr id="7" name="Picture 6">
            <a:extLst>
              <a:ext uri="{FF2B5EF4-FFF2-40B4-BE49-F238E27FC236}">
                <a16:creationId xmlns:a16="http://schemas.microsoft.com/office/drawing/2014/main" id="{BFA3870E-9FA0-01DF-DF5C-3BEE45A0CE1E}"/>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8109164" y="3076664"/>
            <a:ext cx="3482642" cy="2804403"/>
          </a:xfrm>
          <a:prstGeom prst="rect">
            <a:avLst/>
          </a:prstGeom>
        </p:spPr>
      </p:pic>
      <p:sp>
        <p:nvSpPr>
          <p:cNvPr id="9" name="TextBox 8">
            <a:extLst>
              <a:ext uri="{FF2B5EF4-FFF2-40B4-BE49-F238E27FC236}">
                <a16:creationId xmlns:a16="http://schemas.microsoft.com/office/drawing/2014/main" id="{69C48352-55AE-D2F1-D2AE-EE512C7217A0}"/>
              </a:ext>
            </a:extLst>
          </p:cNvPr>
          <p:cNvSpPr txBox="1"/>
          <p:nvPr/>
        </p:nvSpPr>
        <p:spPr>
          <a:xfrm>
            <a:off x="600194" y="1602285"/>
            <a:ext cx="7358473" cy="4401205"/>
          </a:xfrm>
          <a:prstGeom prst="rect">
            <a:avLst/>
          </a:prstGeom>
          <a:noFill/>
        </p:spPr>
        <p:txBody>
          <a:bodyPr wrap="square">
            <a:spAutoFit/>
          </a:bodyPr>
          <a:lstStyle/>
          <a:p>
            <a:pPr marL="342900" lvl="0" indent="-342900">
              <a:buFont typeface="Arial" panose="020B0604020202020204" pitchFamily="34" charset="0"/>
              <a:buChar char="•"/>
            </a:pPr>
            <a:r>
              <a:rPr lang="en-IN" sz="2000" dirty="0">
                <a:latin typeface="Agency FB" panose="020B0503020202020204" pitchFamily="34" charset="0"/>
              </a:rPr>
              <a:t>Age is the single strongest demographic risk factor — churn nearly triples between the 18-30 and 30-50 brackets, then doubles again for 50+. This isn't a small trend; it's a near-linear escalation.</a:t>
            </a:r>
          </a:p>
          <a:p>
            <a:pPr marL="342900" lvl="0" indent="-342900">
              <a:buFont typeface="Arial" panose="020B0604020202020204" pitchFamily="34" charset="0"/>
              <a:buChar char="•"/>
            </a:pPr>
            <a:r>
              <a:rPr lang="en-IN" sz="2000" dirty="0">
                <a:latin typeface="Agency FB" panose="020B0503020202020204" pitchFamily="34" charset="0"/>
              </a:rPr>
              <a:t>Engagement matters as much as demographics — the fact that only 36% of exited customers were active (vs. 55% of retained) shows that disengagement often </a:t>
            </a:r>
            <a:r>
              <a:rPr lang="en-IN" sz="2000" i="1" dirty="0">
                <a:latin typeface="Agency FB" panose="020B0503020202020204" pitchFamily="34" charset="0"/>
              </a:rPr>
              <a:t>precedes</a:t>
            </a:r>
            <a:r>
              <a:rPr lang="en-IN" sz="2000" dirty="0">
                <a:latin typeface="Agency FB" panose="020B0503020202020204" pitchFamily="34" charset="0"/>
              </a:rPr>
              <a:t> churn. This means inactivity could serve as an early-warning signal, not just a side effect.</a:t>
            </a:r>
          </a:p>
          <a:p>
            <a:pPr marL="342900" lvl="0" indent="-342900">
              <a:buFont typeface="Arial" panose="020B0604020202020204" pitchFamily="34" charset="0"/>
              <a:buChar char="•"/>
            </a:pPr>
            <a:r>
              <a:rPr lang="en-IN" sz="2000" dirty="0">
                <a:latin typeface="Agency FB" panose="020B0503020202020204" pitchFamily="34" charset="0"/>
              </a:rPr>
              <a:t>The risk compounds geographically — from your age table, Germany's 50+ segment churns at 59.83%, nearly double France's 50+ rate (39.97%). So age risk isn't uniform across regions — Germany amplifies it further.</a:t>
            </a:r>
          </a:p>
          <a:p>
            <a:pPr marL="342900" lvl="0" indent="-342900">
              <a:buFont typeface="Arial" panose="020B0604020202020204" pitchFamily="34" charset="0"/>
              <a:buChar char="•"/>
            </a:pPr>
            <a:r>
              <a:rPr lang="en-IN" sz="2000" dirty="0">
                <a:latin typeface="Agency FB" panose="020B0503020202020204" pitchFamily="34" charset="0"/>
              </a:rPr>
              <a:t>Business implication: The bank should treat "inactive + older + German" as a compound red flag, not evaluate these factors independently. A 50+ German customer who becomes inactive is likely a near-certain churn case, and should trigger proactive retention outreach before they leave.</a:t>
            </a:r>
          </a:p>
        </p:txBody>
      </p:sp>
      <p:pic>
        <p:nvPicPr>
          <p:cNvPr id="11" name="Picture 10">
            <a:extLst>
              <a:ext uri="{FF2B5EF4-FFF2-40B4-BE49-F238E27FC236}">
                <a16:creationId xmlns:a16="http://schemas.microsoft.com/office/drawing/2014/main" id="{F155E2C1-B705-6311-6F26-4B2A11DB761C}"/>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10735734" y="-91884"/>
            <a:ext cx="1456266" cy="1456266"/>
          </a:xfrm>
          <a:prstGeom prst="rect">
            <a:avLst/>
          </a:prstGeom>
        </p:spPr>
      </p:pic>
    </p:spTree>
    <p:extLst>
      <p:ext uri="{BB962C8B-B14F-4D97-AF65-F5344CB8AC3E}">
        <p14:creationId xmlns:p14="http://schemas.microsoft.com/office/powerpoint/2010/main" val="433035402"/>
      </p:ext>
    </p:extLst>
  </p:cSld>
  <p:clrMapOvr>
    <a:overrideClrMapping bg1="dk1" tx1="lt1" bg2="dk2" tx2="lt2" accent1="accent1" accent2="accent2" accent3="accent3" accent4="accent4" accent5="accent5" accent6="accent6" hlink="hlink" folHlink="folHlink"/>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002060">
            <a:alpha val="80000"/>
          </a:srgbClr>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2C2C4E2-C451-EDD3-4B68-ED7E8D9B2F06}"/>
              </a:ext>
            </a:extLst>
          </p:cNvPr>
          <p:cNvSpPr>
            <a:spLocks noGrp="1"/>
          </p:cNvSpPr>
          <p:nvPr>
            <p:ph type="title"/>
          </p:nvPr>
        </p:nvSpPr>
        <p:spPr>
          <a:xfrm>
            <a:off x="838200" y="212725"/>
            <a:ext cx="10515600" cy="1325563"/>
          </a:xfrm>
        </p:spPr>
        <p:txBody>
          <a:bodyPr>
            <a:normAutofit/>
          </a:bodyPr>
          <a:lstStyle/>
          <a:p>
            <a:pPr algn="ctr"/>
            <a:r>
              <a:rPr lang="en-IN" sz="4000" b="1" dirty="0">
                <a:latin typeface="Agency FB" panose="020B0503020202020204" pitchFamily="34" charset="0"/>
              </a:rPr>
              <a:t>Credit Card Ownership: No Impact on Retention</a:t>
            </a:r>
          </a:p>
        </p:txBody>
      </p:sp>
      <p:pic>
        <p:nvPicPr>
          <p:cNvPr id="5" name="Content Placeholder 4">
            <a:extLst>
              <a:ext uri="{FF2B5EF4-FFF2-40B4-BE49-F238E27FC236}">
                <a16:creationId xmlns:a16="http://schemas.microsoft.com/office/drawing/2014/main" id="{08CD4374-2E2F-9F82-E3D4-DF7E298D87A9}"/>
              </a:ext>
            </a:extLst>
          </p:cNvPr>
          <p:cNvPicPr>
            <a:picLocks noGrp="1" noChangeAspect="1"/>
          </p:cNvPicPr>
          <p:nvPr>
            <p:ph idx="1"/>
          </p:nvPr>
        </p:nvPicPr>
        <p:blipFill>
          <a:blip r:embed="rId3"/>
          <a:stretch>
            <a:fillRect/>
          </a:stretch>
        </p:blipFill>
        <p:spPr>
          <a:xfrm>
            <a:off x="8232419" y="1445093"/>
            <a:ext cx="3330229" cy="3719573"/>
          </a:xfrm>
          <a:prstGeom prst="rect">
            <a:avLst/>
          </a:prstGeom>
        </p:spPr>
      </p:pic>
      <p:sp>
        <p:nvSpPr>
          <p:cNvPr id="7" name="TextBox 6">
            <a:extLst>
              <a:ext uri="{FF2B5EF4-FFF2-40B4-BE49-F238E27FC236}">
                <a16:creationId xmlns:a16="http://schemas.microsoft.com/office/drawing/2014/main" id="{0715F95D-05BC-5D9D-9D41-AD924663CC80}"/>
              </a:ext>
            </a:extLst>
          </p:cNvPr>
          <p:cNvSpPr txBox="1"/>
          <p:nvPr/>
        </p:nvSpPr>
        <p:spPr>
          <a:xfrm>
            <a:off x="1236131" y="1551563"/>
            <a:ext cx="6756401" cy="3754874"/>
          </a:xfrm>
          <a:prstGeom prst="rect">
            <a:avLst/>
          </a:prstGeom>
          <a:noFill/>
        </p:spPr>
        <p:txBody>
          <a:bodyPr wrap="square">
            <a:spAutoFit/>
          </a:bodyPr>
          <a:lstStyle/>
          <a:p>
            <a:r>
              <a:rPr lang="en-IN" sz="2000" dirty="0">
                <a:latin typeface="Agency FB" panose="020B0503020202020204" pitchFamily="34" charset="0"/>
              </a:rPr>
              <a:t>"Despite being a common product offering, credit card ownership shows almost no measurable effect on customer retention — non-holders actually churn slightly more, but the gap is negligible. This challenges the assumption that more products automatically drive loyalty.“</a:t>
            </a:r>
          </a:p>
          <a:p>
            <a:endParaRPr lang="en-IN" sz="2000" dirty="0">
              <a:latin typeface="Agency FB" panose="020B0503020202020204" pitchFamily="34" charset="0"/>
            </a:endParaRPr>
          </a:p>
          <a:p>
            <a:pPr marL="285750" lvl="0" indent="-285750">
              <a:buFont typeface="Arial" panose="020B0604020202020204" pitchFamily="34" charset="0"/>
              <a:buChar char="•"/>
            </a:pPr>
            <a:r>
              <a:rPr lang="en-IN" sz="2000" dirty="0">
                <a:latin typeface="Agency FB" panose="020B0503020202020204" pitchFamily="34" charset="0"/>
              </a:rPr>
              <a:t>Retention efforts should prioritize </a:t>
            </a:r>
            <a:r>
              <a:rPr lang="en-IN" sz="2000" b="1" dirty="0">
                <a:latin typeface="Agency FB" panose="020B0503020202020204" pitchFamily="34" charset="0"/>
              </a:rPr>
              <a:t>engagement and service quality</a:t>
            </a:r>
            <a:r>
              <a:rPr lang="en-IN" sz="2000" dirty="0">
                <a:latin typeface="Agency FB" panose="020B0503020202020204" pitchFamily="34" charset="0"/>
              </a:rPr>
              <a:t> (which do show real impact, as seen with IsActiveMember) over simply cross-selling more products</a:t>
            </a:r>
          </a:p>
          <a:p>
            <a:pPr marL="285750" lvl="0" indent="-285750">
              <a:buFont typeface="Arial" panose="020B0604020202020204" pitchFamily="34" charset="0"/>
              <a:buChar char="•"/>
            </a:pPr>
            <a:r>
              <a:rPr lang="en-IN" sz="2000" dirty="0">
                <a:latin typeface="Agency FB" panose="020B0503020202020204" pitchFamily="34" charset="0"/>
              </a:rPr>
              <a:t>The bank's current credit card rewards program isn't functioning as a loyalty lever — worth reassessing whether its benefits actually incentivize continued relationship value</a:t>
            </a:r>
          </a:p>
          <a:p>
            <a:endParaRPr lang="en-IN" dirty="0"/>
          </a:p>
        </p:txBody>
      </p:sp>
      <p:pic>
        <p:nvPicPr>
          <p:cNvPr id="9" name="Picture 8">
            <a:extLst>
              <a:ext uri="{FF2B5EF4-FFF2-40B4-BE49-F238E27FC236}">
                <a16:creationId xmlns:a16="http://schemas.microsoft.com/office/drawing/2014/main" id="{ABD1165E-7DF2-2BD6-7CEA-99AA459F3642}"/>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0735734" y="-91884"/>
            <a:ext cx="1456266" cy="1456266"/>
          </a:xfrm>
          <a:prstGeom prst="rect">
            <a:avLst/>
          </a:prstGeom>
        </p:spPr>
      </p:pic>
    </p:spTree>
    <p:extLst>
      <p:ext uri="{BB962C8B-B14F-4D97-AF65-F5344CB8AC3E}">
        <p14:creationId xmlns:p14="http://schemas.microsoft.com/office/powerpoint/2010/main" val="537056318"/>
      </p:ext>
    </p:extLst>
  </p:cSld>
  <p:clrMapOvr>
    <a:overrideClrMapping bg1="dk1" tx1="lt1" bg2="dk2" tx2="lt2" accent1="accent1" accent2="accent2" accent3="accent3" accent4="accent4" accent5="accent5" accent6="accent6" hlink="hlink" folHlink="folHlink"/>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002060">
            <a:alpha val="80000"/>
          </a:srgbClr>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573DCC8-EC85-F4FA-1E99-F0D031D54DAE}"/>
              </a:ext>
            </a:extLst>
          </p:cNvPr>
          <p:cNvSpPr>
            <a:spLocks noGrp="1"/>
          </p:cNvSpPr>
          <p:nvPr>
            <p:ph type="title"/>
          </p:nvPr>
        </p:nvSpPr>
        <p:spPr/>
        <p:txBody>
          <a:bodyPr/>
          <a:lstStyle/>
          <a:p>
            <a:pPr algn="ctr"/>
            <a:r>
              <a:rPr lang="en-IN" sz="4000" b="1" dirty="0">
                <a:latin typeface="Agency FB" panose="020B0503020202020204" pitchFamily="34" charset="0"/>
              </a:rPr>
              <a:t>Highest-Risk Segment</a:t>
            </a:r>
            <a:endParaRPr lang="en-IN" b="1" dirty="0">
              <a:latin typeface="Agency FB" panose="020B0503020202020204" pitchFamily="34" charset="0"/>
            </a:endParaRPr>
          </a:p>
        </p:txBody>
      </p:sp>
      <p:pic>
        <p:nvPicPr>
          <p:cNvPr id="5" name="Content Placeholder 4">
            <a:extLst>
              <a:ext uri="{FF2B5EF4-FFF2-40B4-BE49-F238E27FC236}">
                <a16:creationId xmlns:a16="http://schemas.microsoft.com/office/drawing/2014/main" id="{B6C9B1F8-3166-510E-6A8A-437DF49762A0}"/>
              </a:ext>
            </a:extLst>
          </p:cNvPr>
          <p:cNvPicPr>
            <a:picLocks noGrp="1" noChangeAspect="1"/>
          </p:cNvPicPr>
          <p:nvPr>
            <p:ph idx="1"/>
          </p:nvPr>
        </p:nvPicPr>
        <p:blipFill>
          <a:blip r:embed="rId3">
            <a:extLst>
              <a:ext uri="{28A0092B-C50C-407E-A947-70E740481C1C}">
                <a14:useLocalDpi xmlns:a14="http://schemas.microsoft.com/office/drawing/2010/main" val="0"/>
              </a:ext>
            </a:extLst>
          </a:blip>
          <a:stretch>
            <a:fillRect/>
          </a:stretch>
        </p:blipFill>
        <p:spPr>
          <a:xfrm>
            <a:off x="8105412" y="1638300"/>
            <a:ext cx="3482642" cy="3581399"/>
          </a:xfrm>
          <a:prstGeom prst="rect">
            <a:avLst/>
          </a:prstGeom>
        </p:spPr>
      </p:pic>
      <p:sp>
        <p:nvSpPr>
          <p:cNvPr id="7" name="TextBox 6">
            <a:extLst>
              <a:ext uri="{FF2B5EF4-FFF2-40B4-BE49-F238E27FC236}">
                <a16:creationId xmlns:a16="http://schemas.microsoft.com/office/drawing/2014/main" id="{54FCFC6E-0140-3C70-E144-2799328930C0}"/>
              </a:ext>
            </a:extLst>
          </p:cNvPr>
          <p:cNvSpPr txBox="1"/>
          <p:nvPr/>
        </p:nvSpPr>
        <p:spPr>
          <a:xfrm>
            <a:off x="1515534" y="1638300"/>
            <a:ext cx="6096000" cy="4093428"/>
          </a:xfrm>
          <a:prstGeom prst="rect">
            <a:avLst/>
          </a:prstGeom>
          <a:noFill/>
        </p:spPr>
        <p:txBody>
          <a:bodyPr wrap="square">
            <a:spAutoFit/>
          </a:bodyPr>
          <a:lstStyle/>
          <a:p>
            <a:r>
              <a:rPr lang="en-IN" sz="2000" dirty="0">
                <a:latin typeface="Agency FB" panose="020B0503020202020204" pitchFamily="34" charset="0"/>
              </a:rPr>
              <a:t>"Nearly 6 in 10 of the bank's 50+ German customers — its wealthiest older segment — are leaving. This is the single highest-risk, highest-value customer group in the entire portfolio, representing the bank's most urgent retention priority.“</a:t>
            </a:r>
          </a:p>
          <a:p>
            <a:endParaRPr lang="en-IN" sz="2000" dirty="0">
              <a:latin typeface="Agency FB" panose="020B0503020202020204" pitchFamily="34" charset="0"/>
            </a:endParaRPr>
          </a:p>
          <a:p>
            <a:pPr marL="285750" lvl="0" indent="-285750">
              <a:buFont typeface="Arial" panose="020B0604020202020204" pitchFamily="34" charset="0"/>
              <a:buChar char="•"/>
            </a:pPr>
            <a:r>
              <a:rPr lang="en-IN" sz="2000" dirty="0">
                <a:latin typeface="Agency FB" panose="020B0503020202020204" pitchFamily="34" charset="0"/>
              </a:rPr>
              <a:t>This segment combines all three major risk factors identified in the analysis: older age + high balance + Germany location</a:t>
            </a:r>
          </a:p>
          <a:p>
            <a:pPr marL="285750" lvl="0" indent="-285750">
              <a:buFont typeface="Arial" panose="020B0604020202020204" pitchFamily="34" charset="0"/>
              <a:buChar char="•"/>
            </a:pPr>
            <a:r>
              <a:rPr lang="en-IN" sz="2000" dirty="0">
                <a:latin typeface="Agency FB" panose="020B0503020202020204" pitchFamily="34" charset="0"/>
              </a:rPr>
              <a:t>Losing these customers has an outsized financial impact given their high average balance</a:t>
            </a:r>
          </a:p>
          <a:p>
            <a:pPr marL="285750" lvl="0" indent="-285750">
              <a:buFont typeface="Arial" panose="020B0604020202020204" pitchFamily="34" charset="0"/>
              <a:buChar char="•"/>
            </a:pPr>
            <a:r>
              <a:rPr lang="en-IN" sz="2000" dirty="0">
                <a:latin typeface="Agency FB" panose="020B0503020202020204" pitchFamily="34" charset="0"/>
              </a:rPr>
              <a:t>Recommend a dedicated, high-touch retention program specifically targeting this segment (e.g., relationship managers, personalized retirement/wealth products, proactive outreach before signs of disengagement appear)</a:t>
            </a:r>
          </a:p>
        </p:txBody>
      </p:sp>
      <p:pic>
        <p:nvPicPr>
          <p:cNvPr id="9" name="Picture 8">
            <a:extLst>
              <a:ext uri="{FF2B5EF4-FFF2-40B4-BE49-F238E27FC236}">
                <a16:creationId xmlns:a16="http://schemas.microsoft.com/office/drawing/2014/main" id="{0D7F9FE7-C120-438C-7253-F81CE49F6BE5}"/>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0735734" y="-91884"/>
            <a:ext cx="1456266" cy="1456266"/>
          </a:xfrm>
          <a:prstGeom prst="rect">
            <a:avLst/>
          </a:prstGeom>
        </p:spPr>
      </p:pic>
    </p:spTree>
    <p:extLst>
      <p:ext uri="{BB962C8B-B14F-4D97-AF65-F5344CB8AC3E}">
        <p14:creationId xmlns:p14="http://schemas.microsoft.com/office/powerpoint/2010/main" val="768472214"/>
      </p:ext>
    </p:extLst>
  </p:cSld>
  <p:clrMapOvr>
    <a:overrideClrMapping bg1="dk1" tx1="lt1" bg2="dk2" tx2="lt2" accent1="accent1" accent2="accent2" accent3="accent3" accent4="accent4" accent5="accent5" accent6="accent6" hlink="hlink" folHlink="folHlink"/>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002060">
            <a:alpha val="80000"/>
          </a:srgbClr>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74505CC-2B36-B008-6151-A987712F1860}"/>
              </a:ext>
            </a:extLst>
          </p:cNvPr>
          <p:cNvSpPr>
            <a:spLocks noGrp="1"/>
          </p:cNvSpPr>
          <p:nvPr>
            <p:ph type="title"/>
          </p:nvPr>
        </p:nvSpPr>
        <p:spPr>
          <a:xfrm>
            <a:off x="838200" y="46037"/>
            <a:ext cx="10515600" cy="1325563"/>
          </a:xfrm>
        </p:spPr>
        <p:txBody>
          <a:bodyPr/>
          <a:lstStyle/>
          <a:p>
            <a:pPr algn="ctr"/>
            <a:r>
              <a:rPr lang="en-IN" sz="4000" b="1" dirty="0">
                <a:latin typeface="Agency FB" panose="020B0503020202020204" pitchFamily="34" charset="0"/>
              </a:rPr>
              <a:t>DASHBOARD - Customer Demographics</a:t>
            </a:r>
            <a:endParaRPr lang="en-IN" b="1" dirty="0">
              <a:latin typeface="Agency FB" panose="020B0503020202020204" pitchFamily="34" charset="0"/>
            </a:endParaRPr>
          </a:p>
        </p:txBody>
      </p:sp>
      <p:pic>
        <p:nvPicPr>
          <p:cNvPr id="7" name="Picture 6">
            <a:extLst>
              <a:ext uri="{FF2B5EF4-FFF2-40B4-BE49-F238E27FC236}">
                <a16:creationId xmlns:a16="http://schemas.microsoft.com/office/drawing/2014/main" id="{B455CB98-9118-90F4-D6EE-F557A1C824C2}"/>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735734" y="-91884"/>
            <a:ext cx="1456266" cy="1456266"/>
          </a:xfrm>
          <a:prstGeom prst="rect">
            <a:avLst/>
          </a:prstGeom>
        </p:spPr>
      </p:pic>
      <p:pic>
        <p:nvPicPr>
          <p:cNvPr id="8" name="Content Placeholder 7">
            <a:extLst>
              <a:ext uri="{FF2B5EF4-FFF2-40B4-BE49-F238E27FC236}">
                <a16:creationId xmlns:a16="http://schemas.microsoft.com/office/drawing/2014/main" id="{45E733BB-3250-0393-4032-2F493BE69F2A}"/>
              </a:ext>
            </a:extLst>
          </p:cNvPr>
          <p:cNvPicPr>
            <a:picLocks noGrp="1" noChangeAspect="1"/>
          </p:cNvPicPr>
          <p:nvPr>
            <p:ph idx="1"/>
          </p:nvPr>
        </p:nvPicPr>
        <p:blipFill>
          <a:blip r:embed="rId4"/>
          <a:stretch>
            <a:fillRect/>
          </a:stretch>
        </p:blipFill>
        <p:spPr>
          <a:xfrm>
            <a:off x="1354667" y="1364382"/>
            <a:ext cx="9381067" cy="4812581"/>
          </a:xfrm>
          <a:prstGeom prst="rect">
            <a:avLst/>
          </a:prstGeom>
        </p:spPr>
      </p:pic>
    </p:spTree>
    <p:extLst>
      <p:ext uri="{BB962C8B-B14F-4D97-AF65-F5344CB8AC3E}">
        <p14:creationId xmlns:p14="http://schemas.microsoft.com/office/powerpoint/2010/main" val="1796398621"/>
      </p:ext>
    </p:extLst>
  </p:cSld>
  <p:clrMapOvr>
    <a:overrideClrMapping bg1="dk1" tx1="lt1" bg2="dk2" tx2="lt2" accent1="accent1" accent2="accent2" accent3="accent3" accent4="accent4" accent5="accent5" accent6="accent6" hlink="hlink" folHlink="folHlink"/>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rgbClr val="002060">
            <a:alpha val="80000"/>
          </a:srgbClr>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3C51568-EF57-060E-9882-DD90144A7BBF}"/>
              </a:ext>
            </a:extLst>
          </p:cNvPr>
          <p:cNvSpPr>
            <a:spLocks noGrp="1"/>
          </p:cNvSpPr>
          <p:nvPr>
            <p:ph type="title"/>
          </p:nvPr>
        </p:nvSpPr>
        <p:spPr>
          <a:xfrm>
            <a:off x="838200" y="249237"/>
            <a:ext cx="10515600" cy="1325563"/>
          </a:xfrm>
        </p:spPr>
        <p:txBody>
          <a:bodyPr>
            <a:normAutofit/>
          </a:bodyPr>
          <a:lstStyle/>
          <a:p>
            <a:pPr algn="ctr"/>
            <a:r>
              <a:rPr lang="en-IN" sz="4000" b="1" dirty="0">
                <a:latin typeface="Agency FB" panose="020B0503020202020204" pitchFamily="34" charset="0"/>
              </a:rPr>
              <a:t>DASHBOARD - Product Engagement</a:t>
            </a:r>
            <a:endParaRPr lang="en-IN" sz="4000" dirty="0"/>
          </a:p>
        </p:txBody>
      </p:sp>
      <p:pic>
        <p:nvPicPr>
          <p:cNvPr id="5" name="Content Placeholder 4">
            <a:extLst>
              <a:ext uri="{FF2B5EF4-FFF2-40B4-BE49-F238E27FC236}">
                <a16:creationId xmlns:a16="http://schemas.microsoft.com/office/drawing/2014/main" id="{7CBE3BF4-1E2B-E7F0-282E-90B27DC1D556}"/>
              </a:ext>
            </a:extLst>
          </p:cNvPr>
          <p:cNvPicPr>
            <a:picLocks noGrp="1" noChangeAspect="1"/>
          </p:cNvPicPr>
          <p:nvPr>
            <p:ph idx="1"/>
          </p:nvPr>
        </p:nvPicPr>
        <p:blipFill>
          <a:blip r:embed="rId3"/>
          <a:stretch>
            <a:fillRect/>
          </a:stretch>
        </p:blipFill>
        <p:spPr>
          <a:xfrm>
            <a:off x="1397000" y="1456267"/>
            <a:ext cx="9211733" cy="4720696"/>
          </a:xfrm>
          <a:prstGeom prst="rect">
            <a:avLst/>
          </a:prstGeom>
        </p:spPr>
      </p:pic>
      <p:pic>
        <p:nvPicPr>
          <p:cNvPr id="7" name="Picture 6">
            <a:extLst>
              <a:ext uri="{FF2B5EF4-FFF2-40B4-BE49-F238E27FC236}">
                <a16:creationId xmlns:a16="http://schemas.microsoft.com/office/drawing/2014/main" id="{C86491EA-CC54-2DF4-2B8D-8F56EFA39DD5}"/>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0735734" y="-91884"/>
            <a:ext cx="1456266" cy="1456266"/>
          </a:xfrm>
          <a:prstGeom prst="rect">
            <a:avLst/>
          </a:prstGeom>
        </p:spPr>
      </p:pic>
    </p:spTree>
    <p:extLst>
      <p:ext uri="{BB962C8B-B14F-4D97-AF65-F5344CB8AC3E}">
        <p14:creationId xmlns:p14="http://schemas.microsoft.com/office/powerpoint/2010/main" val="3553549197"/>
      </p:ext>
    </p:extLst>
  </p:cSld>
  <p:clrMapOvr>
    <a:overrideClrMapping bg1="dk1" tx1="lt1" bg2="dk2" tx2="lt2" accent1="accent1" accent2="accent2" accent3="accent3" accent4="accent4" accent5="accent5" accent6="accent6" hlink="hlink" folHlink="folHlink"/>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rgbClr val="002060">
            <a:alpha val="80000"/>
          </a:srgbClr>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012AB0D-FF6E-DABA-70A4-FF6AC99801BE}"/>
              </a:ext>
            </a:extLst>
          </p:cNvPr>
          <p:cNvSpPr>
            <a:spLocks noGrp="1"/>
          </p:cNvSpPr>
          <p:nvPr>
            <p:ph type="title"/>
          </p:nvPr>
        </p:nvSpPr>
        <p:spPr>
          <a:xfrm>
            <a:off x="838200" y="238125"/>
            <a:ext cx="10515600" cy="1325563"/>
          </a:xfrm>
        </p:spPr>
        <p:txBody>
          <a:bodyPr/>
          <a:lstStyle/>
          <a:p>
            <a:pPr algn="ctr"/>
            <a:r>
              <a:rPr lang="en-IN" b="1" dirty="0">
                <a:latin typeface="Agency FB" panose="020B0503020202020204" pitchFamily="34" charset="0"/>
              </a:rPr>
              <a:t>DASHBOARD - Churn Analysis</a:t>
            </a:r>
            <a:endParaRPr lang="en-IN" dirty="0"/>
          </a:p>
        </p:txBody>
      </p:sp>
      <p:pic>
        <p:nvPicPr>
          <p:cNvPr id="5" name="Content Placeholder 4">
            <a:extLst>
              <a:ext uri="{FF2B5EF4-FFF2-40B4-BE49-F238E27FC236}">
                <a16:creationId xmlns:a16="http://schemas.microsoft.com/office/drawing/2014/main" id="{652FA952-82D2-A647-0D57-D86E123674E5}"/>
              </a:ext>
            </a:extLst>
          </p:cNvPr>
          <p:cNvPicPr>
            <a:picLocks noGrp="1" noChangeAspect="1"/>
          </p:cNvPicPr>
          <p:nvPr>
            <p:ph idx="1"/>
          </p:nvPr>
        </p:nvPicPr>
        <p:blipFill>
          <a:blip r:embed="rId3"/>
          <a:stretch>
            <a:fillRect/>
          </a:stretch>
        </p:blipFill>
        <p:spPr>
          <a:xfrm>
            <a:off x="1803400" y="1312333"/>
            <a:ext cx="8585199" cy="4864630"/>
          </a:xfrm>
          <a:prstGeom prst="rect">
            <a:avLst/>
          </a:prstGeom>
        </p:spPr>
      </p:pic>
      <p:pic>
        <p:nvPicPr>
          <p:cNvPr id="7" name="Picture 6">
            <a:extLst>
              <a:ext uri="{FF2B5EF4-FFF2-40B4-BE49-F238E27FC236}">
                <a16:creationId xmlns:a16="http://schemas.microsoft.com/office/drawing/2014/main" id="{DAB0F8F3-85CA-F076-D0D0-E6AE2615A8FB}"/>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0735734" y="-91884"/>
            <a:ext cx="1456266" cy="1456266"/>
          </a:xfrm>
          <a:prstGeom prst="rect">
            <a:avLst/>
          </a:prstGeom>
        </p:spPr>
      </p:pic>
    </p:spTree>
    <p:extLst>
      <p:ext uri="{BB962C8B-B14F-4D97-AF65-F5344CB8AC3E}">
        <p14:creationId xmlns:p14="http://schemas.microsoft.com/office/powerpoint/2010/main" val="687007543"/>
      </p:ext>
    </p:extLst>
  </p:cSld>
  <p:clrMapOvr>
    <a:overrideClrMapping bg1="dk1" tx1="lt1" bg2="dk2" tx2="lt2" accent1="accent1" accent2="accent2" accent3="accent3" accent4="accent4" accent5="accent5" accent6="accent6" hlink="hlink" folHlink="folHlink"/>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rgbClr val="002060">
            <a:alpha val="80000"/>
          </a:srgbClr>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14929E3-D274-DE4E-22AF-6670C08C41A5}"/>
              </a:ext>
            </a:extLst>
          </p:cNvPr>
          <p:cNvSpPr>
            <a:spLocks noGrp="1"/>
          </p:cNvSpPr>
          <p:nvPr>
            <p:ph type="title"/>
          </p:nvPr>
        </p:nvSpPr>
        <p:spPr>
          <a:xfrm>
            <a:off x="651933" y="80528"/>
            <a:ext cx="10515600" cy="1325563"/>
          </a:xfrm>
        </p:spPr>
        <p:txBody>
          <a:bodyPr/>
          <a:lstStyle/>
          <a:p>
            <a:pPr algn="ctr"/>
            <a:r>
              <a:rPr lang="en-IN" sz="4000" b="1" dirty="0">
                <a:latin typeface="Agency FB" panose="020B0503020202020204" pitchFamily="34" charset="0"/>
              </a:rPr>
              <a:t>CONCLUSION</a:t>
            </a:r>
            <a:endParaRPr lang="en-IN" b="1" dirty="0">
              <a:latin typeface="Agency FB" panose="020B0503020202020204" pitchFamily="34" charset="0"/>
            </a:endParaRPr>
          </a:p>
        </p:txBody>
      </p:sp>
      <p:sp>
        <p:nvSpPr>
          <p:cNvPr id="3" name="Content Placeholder 2">
            <a:extLst>
              <a:ext uri="{FF2B5EF4-FFF2-40B4-BE49-F238E27FC236}">
                <a16:creationId xmlns:a16="http://schemas.microsoft.com/office/drawing/2014/main" id="{37315CCF-FB3C-9574-C5B3-FD693DCFBDF7}"/>
              </a:ext>
            </a:extLst>
          </p:cNvPr>
          <p:cNvSpPr>
            <a:spLocks noGrp="1"/>
          </p:cNvSpPr>
          <p:nvPr>
            <p:ph idx="1"/>
          </p:nvPr>
        </p:nvSpPr>
        <p:spPr>
          <a:xfrm>
            <a:off x="838200" y="1364382"/>
            <a:ext cx="10515600" cy="5008563"/>
          </a:xfrm>
        </p:spPr>
        <p:txBody>
          <a:bodyPr>
            <a:normAutofit/>
          </a:bodyPr>
          <a:lstStyle/>
          <a:p>
            <a:pPr lvl="0"/>
            <a:r>
              <a:rPr lang="en-IN" sz="2000" b="1" dirty="0">
                <a:latin typeface="Agency FB" panose="020B0503020202020204" pitchFamily="34" charset="0"/>
              </a:rPr>
              <a:t>Churn is a persistent, not one-time, problem.</a:t>
            </a:r>
            <a:r>
              <a:rPr lang="en-IN" sz="2000" dirty="0">
                <a:latin typeface="Agency FB" panose="020B0503020202020204" pitchFamily="34" charset="0"/>
              </a:rPr>
              <a:t> The overall churn rate is </a:t>
            </a:r>
            <a:r>
              <a:rPr lang="en-IN" sz="2000" b="1" dirty="0">
                <a:latin typeface="Agency FB" panose="020B0503020202020204" pitchFamily="34" charset="0"/>
              </a:rPr>
              <a:t>20.37%</a:t>
            </a:r>
            <a:r>
              <a:rPr lang="en-IN" sz="2000" dirty="0">
                <a:latin typeface="Agency FB" panose="020B0503020202020204" pitchFamily="34" charset="0"/>
              </a:rPr>
              <a:t>. It peaked at </a:t>
            </a:r>
            <a:r>
              <a:rPr lang="en-IN" sz="2000" b="1" dirty="0">
                <a:latin typeface="Agency FB" panose="020B0503020202020204" pitchFamily="34" charset="0"/>
              </a:rPr>
              <a:t>22.35%</a:t>
            </a:r>
            <a:r>
              <a:rPr lang="en-IN" sz="2000" dirty="0">
                <a:latin typeface="Agency FB" panose="020B0503020202020204" pitchFamily="34" charset="0"/>
              </a:rPr>
              <a:t> for the 2017 cohort and never dropped below ~19% in any year.</a:t>
            </a:r>
          </a:p>
          <a:p>
            <a:pPr lvl="0"/>
            <a:r>
              <a:rPr lang="en-IN" sz="2000" b="1" dirty="0">
                <a:latin typeface="Agency FB" panose="020B0503020202020204" pitchFamily="34" charset="0"/>
              </a:rPr>
              <a:t>Risk is concentrated, not evenly spread.</a:t>
            </a:r>
            <a:r>
              <a:rPr lang="en-IN" sz="2000" dirty="0">
                <a:latin typeface="Agency FB" panose="020B0503020202020204" pitchFamily="34" charset="0"/>
              </a:rPr>
              <a:t> Three factors stand out: </a:t>
            </a:r>
            <a:r>
              <a:rPr lang="en-IN" sz="2000" b="1" dirty="0">
                <a:latin typeface="Agency FB" panose="020B0503020202020204" pitchFamily="34" charset="0"/>
              </a:rPr>
              <a:t>older age</a:t>
            </a:r>
            <a:r>
              <a:rPr lang="en-IN" sz="2000" dirty="0">
                <a:latin typeface="Agency FB" panose="020B0503020202020204" pitchFamily="34" charset="0"/>
              </a:rPr>
              <a:t> (50+ customers churn at 44.65%), </a:t>
            </a:r>
            <a:r>
              <a:rPr lang="en-IN" sz="2000" b="1" dirty="0">
                <a:latin typeface="Agency FB" panose="020B0503020202020204" pitchFamily="34" charset="0"/>
              </a:rPr>
              <a:t>Germany</a:t>
            </a:r>
            <a:r>
              <a:rPr lang="en-IN" sz="2000" dirty="0">
                <a:latin typeface="Agency FB" panose="020B0503020202020204" pitchFamily="34" charset="0"/>
              </a:rPr>
              <a:t> (32.44% vs ~16% in France and Spain), and </a:t>
            </a:r>
            <a:r>
              <a:rPr lang="en-IN" sz="2000" b="1" dirty="0">
                <a:latin typeface="Agency FB" panose="020B0503020202020204" pitchFamily="34" charset="0"/>
              </a:rPr>
              <a:t>inactive engagement</a:t>
            </a:r>
            <a:r>
              <a:rPr lang="en-IN" sz="2000" dirty="0">
                <a:latin typeface="Agency FB" panose="020B0503020202020204" pitchFamily="34" charset="0"/>
              </a:rPr>
              <a:t>. Combined, they push the Germany, 50+ segment to nearly </a:t>
            </a:r>
            <a:r>
              <a:rPr lang="en-IN" sz="2000" b="1" dirty="0">
                <a:latin typeface="Agency FB" panose="020B0503020202020204" pitchFamily="34" charset="0"/>
              </a:rPr>
              <a:t>60%</a:t>
            </a:r>
            <a:r>
              <a:rPr lang="en-IN" sz="2000" dirty="0">
                <a:latin typeface="Agency FB" panose="020B0503020202020204" pitchFamily="34" charset="0"/>
              </a:rPr>
              <a:t>.</a:t>
            </a:r>
          </a:p>
          <a:p>
            <a:pPr lvl="0"/>
            <a:r>
              <a:rPr lang="en-IN" sz="2000" b="1" dirty="0">
                <a:latin typeface="Agency FB" panose="020B0503020202020204" pitchFamily="34" charset="0"/>
              </a:rPr>
              <a:t>Women churn at a higher rate than men.</a:t>
            </a:r>
            <a:r>
              <a:rPr lang="en-IN" sz="2000" dirty="0">
                <a:latin typeface="Agency FB" panose="020B0503020202020204" pitchFamily="34" charset="0"/>
              </a:rPr>
              <a:t> Female customers churn at </a:t>
            </a:r>
            <a:r>
              <a:rPr lang="en-IN" sz="2000" b="1" dirty="0">
                <a:latin typeface="Agency FB" panose="020B0503020202020204" pitchFamily="34" charset="0"/>
              </a:rPr>
              <a:t>25.07%</a:t>
            </a:r>
            <a:r>
              <a:rPr lang="en-IN" sz="2000" dirty="0">
                <a:latin typeface="Agency FB" panose="020B0503020202020204" pitchFamily="34" charset="0"/>
              </a:rPr>
              <a:t> vs </a:t>
            </a:r>
            <a:r>
              <a:rPr lang="en-IN" sz="2000" b="1" dirty="0">
                <a:latin typeface="Agency FB" panose="020B0503020202020204" pitchFamily="34" charset="0"/>
              </a:rPr>
              <a:t>16.46%</a:t>
            </a:r>
            <a:r>
              <a:rPr lang="en-IN" sz="2000" dirty="0">
                <a:latin typeface="Agency FB" panose="020B0503020202020204" pitchFamily="34" charset="0"/>
              </a:rPr>
              <a:t> for male customers, so gender is a clear secondary risk factor.</a:t>
            </a:r>
          </a:p>
          <a:p>
            <a:pPr lvl="0"/>
            <a:r>
              <a:rPr lang="en-IN" sz="2000" b="1" dirty="0">
                <a:latin typeface="Agency FB" panose="020B0503020202020204" pitchFamily="34" charset="0"/>
              </a:rPr>
              <a:t>The bank is losing its most valuable customers.</a:t>
            </a:r>
            <a:r>
              <a:rPr lang="en-IN" sz="2000" dirty="0">
                <a:latin typeface="Agency FB" panose="020B0503020202020204" pitchFamily="34" charset="0"/>
              </a:rPr>
              <a:t> Exited customers hold a higher average balance than retained ones (~91K vs ~73K), and Germany, the highest-churn region, also holds the highest average balance. The financial impact is larger than the raw percentage suggests.</a:t>
            </a:r>
          </a:p>
          <a:p>
            <a:pPr lvl="0"/>
            <a:r>
              <a:rPr lang="en-IN" sz="2000" b="1" dirty="0">
                <a:latin typeface="Agency FB" panose="020B0503020202020204" pitchFamily="34" charset="0"/>
              </a:rPr>
              <a:t>Common assumptions don’t hold.</a:t>
            </a:r>
            <a:r>
              <a:rPr lang="en-IN" sz="2000" dirty="0">
                <a:latin typeface="Agency FB" panose="020B0503020202020204" pitchFamily="34" charset="0"/>
              </a:rPr>
              <a:t> Credit card ownership (20.81% vs 20.18%), salary (19.9% to 21.5% across salary buckets) and tenure (3-7 years in the data, average 4.87 vs 4.86) show little link to churn. Retention built on “more tenure means more loyalty” or “a credit card keeps customers” would miss the mark.</a:t>
            </a:r>
          </a:p>
          <a:p>
            <a:pPr lvl="0"/>
            <a:r>
              <a:rPr lang="en-IN" sz="2000" b="1" dirty="0">
                <a:latin typeface="Agency FB" panose="020B0503020202020204" pitchFamily="34" charset="0"/>
              </a:rPr>
              <a:t>Engagement is the actionable lever.</a:t>
            </a:r>
            <a:r>
              <a:rPr lang="en-IN" sz="2000" dirty="0">
                <a:latin typeface="Agency FB" panose="020B0503020202020204" pitchFamily="34" charset="0"/>
              </a:rPr>
              <a:t> Only </a:t>
            </a:r>
            <a:r>
              <a:rPr lang="en-IN" sz="2000" b="1" dirty="0">
                <a:latin typeface="Agency FB" panose="020B0503020202020204" pitchFamily="34" charset="0"/>
              </a:rPr>
              <a:t>36%</a:t>
            </a:r>
            <a:r>
              <a:rPr lang="en-IN" sz="2000" dirty="0">
                <a:latin typeface="Agency FB" panose="020B0503020202020204" pitchFamily="34" charset="0"/>
              </a:rPr>
              <a:t> of exited customers were active members, against </a:t>
            </a:r>
            <a:r>
              <a:rPr lang="en-IN" sz="2000" b="1" dirty="0">
                <a:latin typeface="Agency FB" panose="020B0503020202020204" pitchFamily="34" charset="0"/>
              </a:rPr>
              <a:t>55%</a:t>
            </a:r>
            <a:r>
              <a:rPr lang="en-IN" sz="2000" dirty="0">
                <a:latin typeface="Agency FB" panose="020B0503020202020204" pitchFamily="34" charset="0"/>
              </a:rPr>
              <a:t> of retained customers. Declining activity is the clearest early-warning signal for proactive intervention.</a:t>
            </a:r>
          </a:p>
        </p:txBody>
      </p:sp>
      <p:pic>
        <p:nvPicPr>
          <p:cNvPr id="5" name="Picture 4">
            <a:extLst>
              <a:ext uri="{FF2B5EF4-FFF2-40B4-BE49-F238E27FC236}">
                <a16:creationId xmlns:a16="http://schemas.microsoft.com/office/drawing/2014/main" id="{3CC7036B-1049-6A78-67B2-9E293CA7F4BA}"/>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735734" y="-91884"/>
            <a:ext cx="1456266" cy="1456266"/>
          </a:xfrm>
          <a:prstGeom prst="rect">
            <a:avLst/>
          </a:prstGeom>
        </p:spPr>
      </p:pic>
    </p:spTree>
    <p:extLst>
      <p:ext uri="{BB962C8B-B14F-4D97-AF65-F5344CB8AC3E}">
        <p14:creationId xmlns:p14="http://schemas.microsoft.com/office/powerpoint/2010/main" val="3919857650"/>
      </p:ext>
    </p:extLst>
  </p:cSld>
  <p:clrMapOvr>
    <a:overrideClrMapping bg1="dk1" tx1="lt1" bg2="dk2" tx2="lt2" accent1="accent1" accent2="accent2" accent3="accent3" accent4="accent4" accent5="accent5" accent6="accent6" hlink="hlink" folHlink="folHlink"/>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rgbClr val="002060">
            <a:alpha val="80000"/>
          </a:srgbClr>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2FB827B-40FF-716D-A3AF-9995F0DFD611}"/>
              </a:ext>
            </a:extLst>
          </p:cNvPr>
          <p:cNvSpPr>
            <a:spLocks noGrp="1"/>
          </p:cNvSpPr>
          <p:nvPr>
            <p:ph type="title"/>
          </p:nvPr>
        </p:nvSpPr>
        <p:spPr>
          <a:xfrm>
            <a:off x="838200" y="38819"/>
            <a:ext cx="10515600" cy="1325563"/>
          </a:xfrm>
        </p:spPr>
        <p:txBody>
          <a:bodyPr>
            <a:normAutofit/>
          </a:bodyPr>
          <a:lstStyle/>
          <a:p>
            <a:pPr algn="ctr"/>
            <a:r>
              <a:rPr lang="en-IN" sz="4000" b="1" dirty="0">
                <a:latin typeface="Agency FB" panose="020B0503020202020204" pitchFamily="34" charset="0"/>
              </a:rPr>
              <a:t>RECOMMENDATIONS</a:t>
            </a:r>
          </a:p>
        </p:txBody>
      </p:sp>
      <p:sp>
        <p:nvSpPr>
          <p:cNvPr id="3" name="Content Placeholder 2">
            <a:extLst>
              <a:ext uri="{FF2B5EF4-FFF2-40B4-BE49-F238E27FC236}">
                <a16:creationId xmlns:a16="http://schemas.microsoft.com/office/drawing/2014/main" id="{5FD3C7C2-9DC8-46C0-DE5B-75211F52AA2C}"/>
              </a:ext>
            </a:extLst>
          </p:cNvPr>
          <p:cNvSpPr>
            <a:spLocks noGrp="1"/>
          </p:cNvSpPr>
          <p:nvPr>
            <p:ph idx="1"/>
          </p:nvPr>
        </p:nvSpPr>
        <p:spPr>
          <a:xfrm>
            <a:off x="626533" y="1244600"/>
            <a:ext cx="11235267" cy="5207000"/>
          </a:xfrm>
        </p:spPr>
        <p:txBody>
          <a:bodyPr>
            <a:normAutofit fontScale="92500" lnSpcReduction="10000"/>
          </a:bodyPr>
          <a:lstStyle/>
          <a:p>
            <a:r>
              <a:rPr lang="en-IN" sz="2000" b="1" dirty="0">
                <a:latin typeface="Agency FB" panose="020B0503020202020204" pitchFamily="34" charset="0"/>
              </a:rPr>
              <a:t>. Launch a dedicated retention program for Germany, 50+, high-balance customers</a:t>
            </a:r>
            <a:endParaRPr lang="en-IN" sz="2000" dirty="0">
              <a:latin typeface="Agency FB" panose="020B0503020202020204" pitchFamily="34" charset="0"/>
            </a:endParaRPr>
          </a:p>
          <a:p>
            <a:pPr lvl="0"/>
            <a:r>
              <a:rPr lang="en-IN" sz="2000" dirty="0">
                <a:latin typeface="Agency FB" panose="020B0503020202020204" pitchFamily="34" charset="0"/>
              </a:rPr>
              <a:t>This segment churns at ~60%. Assign relationship managers and offer retirement/wealth products, with the highest-balance customers first.</a:t>
            </a:r>
          </a:p>
          <a:p>
            <a:r>
              <a:rPr lang="en-IN" sz="2000" b="1" dirty="0">
                <a:latin typeface="Agency FB" panose="020B0503020202020204" pitchFamily="34" charset="0"/>
              </a:rPr>
              <a:t>2. Build an early-warning system based on member activity</a:t>
            </a:r>
            <a:endParaRPr lang="en-IN" sz="2000" dirty="0">
              <a:latin typeface="Agency FB" panose="020B0503020202020204" pitchFamily="34" charset="0"/>
            </a:endParaRPr>
          </a:p>
          <a:p>
            <a:pPr lvl="0"/>
            <a:r>
              <a:rPr lang="en-IN" sz="2000" dirty="0">
                <a:latin typeface="Agency FB" panose="020B0503020202020204" pitchFamily="34" charset="0"/>
              </a:rPr>
              <a:t>Only 36% of exited customers were active members, against 55% of retained customers. Flag declining activity and trigger re-engagement offers before customers leave.</a:t>
            </a:r>
          </a:p>
          <a:p>
            <a:r>
              <a:rPr lang="en-IN" sz="2000" b="1" dirty="0">
                <a:latin typeface="Agency FB" panose="020B0503020202020204" pitchFamily="34" charset="0"/>
              </a:rPr>
              <a:t>3. Investigate Germany-specific root causes</a:t>
            </a:r>
            <a:endParaRPr lang="en-IN" sz="2000" dirty="0">
              <a:latin typeface="Agency FB" panose="020B0503020202020204" pitchFamily="34" charset="0"/>
            </a:endParaRPr>
          </a:p>
          <a:p>
            <a:pPr lvl="0"/>
            <a:r>
              <a:rPr lang="en-IN" sz="2000" dirty="0">
                <a:latin typeface="Agency FB" panose="020B0503020202020204" pitchFamily="34" charset="0"/>
              </a:rPr>
              <a:t>Germany churns at about double the rate of France and Spain (32.44% vs ~16%). Run customer surveys and a competitor analysis on pricing and service.</a:t>
            </a:r>
          </a:p>
          <a:p>
            <a:r>
              <a:rPr lang="en-IN" sz="2000" b="1" dirty="0">
                <a:latin typeface="Agency FB" panose="020B0503020202020204" pitchFamily="34" charset="0"/>
              </a:rPr>
              <a:t>4. Review retention for female customers</a:t>
            </a:r>
            <a:endParaRPr lang="en-IN" sz="2000" dirty="0">
              <a:latin typeface="Agency FB" panose="020B0503020202020204" pitchFamily="34" charset="0"/>
            </a:endParaRPr>
          </a:p>
          <a:p>
            <a:pPr lvl="0"/>
            <a:r>
              <a:rPr lang="en-IN" sz="2000" dirty="0">
                <a:latin typeface="Agency FB" panose="020B0503020202020204" pitchFamily="34" charset="0"/>
              </a:rPr>
              <a:t>Women churn at 25.07% vs 16.46% for men. Find out why, and design targeted products or service improvements.</a:t>
            </a:r>
          </a:p>
          <a:p>
            <a:r>
              <a:rPr lang="en-IN" sz="2000" b="1" dirty="0">
                <a:latin typeface="Agency FB" panose="020B0503020202020204" pitchFamily="34" charset="0"/>
              </a:rPr>
              <a:t>5. Redesign the credit card rewards program</a:t>
            </a:r>
            <a:endParaRPr lang="en-IN" sz="2000" dirty="0">
              <a:latin typeface="Agency FB" panose="020B0503020202020204" pitchFamily="34" charset="0"/>
            </a:endParaRPr>
          </a:p>
          <a:p>
            <a:pPr lvl="0"/>
            <a:r>
              <a:rPr lang="en-IN" sz="2000" dirty="0">
                <a:latin typeface="Agency FB" panose="020B0503020202020204" pitchFamily="34" charset="0"/>
              </a:rPr>
              <a:t>Card ownership has no retention benefit (20.18% vs 20.81% churn). Rework the rewards so they reward continued engagement.</a:t>
            </a:r>
          </a:p>
          <a:p>
            <a:r>
              <a:rPr lang="en-IN" sz="2000" b="1" dirty="0">
                <a:latin typeface="Agency FB" panose="020B0503020202020204" pitchFamily="34" charset="0"/>
              </a:rPr>
              <a:t>6. Extend age-based relationship management</a:t>
            </a:r>
            <a:endParaRPr lang="en-IN" sz="2000" dirty="0">
              <a:latin typeface="Agency FB" panose="020B0503020202020204" pitchFamily="34" charset="0"/>
            </a:endParaRPr>
          </a:p>
          <a:p>
            <a:pPr lvl="0"/>
            <a:r>
              <a:rPr lang="en-IN" sz="2000" dirty="0">
                <a:latin typeface="Agency FB" panose="020B0503020202020204" pitchFamily="34" charset="0"/>
              </a:rPr>
              <a:t>Churn rises with age (7.52% → 19.58% → 44.65%). Add life-stage products and advisory touchpoints before customers reach the highest-risk brackets.</a:t>
            </a:r>
          </a:p>
        </p:txBody>
      </p:sp>
      <p:pic>
        <p:nvPicPr>
          <p:cNvPr id="5" name="Picture 4">
            <a:extLst>
              <a:ext uri="{FF2B5EF4-FFF2-40B4-BE49-F238E27FC236}">
                <a16:creationId xmlns:a16="http://schemas.microsoft.com/office/drawing/2014/main" id="{564C7316-C2DF-E2B3-4514-342EF403EC73}"/>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735734" y="-91884"/>
            <a:ext cx="1456266" cy="1456266"/>
          </a:xfrm>
          <a:prstGeom prst="rect">
            <a:avLst/>
          </a:prstGeom>
        </p:spPr>
      </p:pic>
    </p:spTree>
    <p:extLst>
      <p:ext uri="{BB962C8B-B14F-4D97-AF65-F5344CB8AC3E}">
        <p14:creationId xmlns:p14="http://schemas.microsoft.com/office/powerpoint/2010/main" val="2975180487"/>
      </p:ext>
    </p:extLst>
  </p:cSld>
  <p:clrMapOvr>
    <a:overrideClrMapping bg1="dk1" tx1="lt1" bg2="dk2" tx2="lt2" accent1="accent1" accent2="accent2" accent3="accent3" accent4="accent4" accent5="accent5" accent6="accent6" hlink="hlink" folHlink="folHlink"/>
  </p:clrMapOvr>
</p:sld>
</file>

<file path=ppt/slides/slide16.xml><?xml version="1.0" encoding="utf-8"?>
<p:sld xmlns:a="http://schemas.openxmlformats.org/drawingml/2006/main" xmlns:r="http://schemas.openxmlformats.org/officeDocument/2006/relationships" xmlns:p="http://schemas.openxmlformats.org/presentationml/2006/main">
  <p:cSld>
    <p:bg>
      <p:bgPr>
        <a:solidFill>
          <a:srgbClr val="002060">
            <a:alpha val="80000"/>
          </a:srgbClr>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739CFA7-19E0-615D-A0B8-4F0290E0E6EC}"/>
              </a:ext>
            </a:extLst>
          </p:cNvPr>
          <p:cNvSpPr>
            <a:spLocks noGrp="1"/>
          </p:cNvSpPr>
          <p:nvPr>
            <p:ph type="title"/>
          </p:nvPr>
        </p:nvSpPr>
        <p:spPr>
          <a:xfrm>
            <a:off x="533400" y="2236258"/>
            <a:ext cx="10515600" cy="1325563"/>
          </a:xfrm>
        </p:spPr>
        <p:txBody>
          <a:bodyPr>
            <a:normAutofit/>
          </a:bodyPr>
          <a:lstStyle/>
          <a:p>
            <a:pPr algn="ctr"/>
            <a:r>
              <a:rPr lang="en-IN" sz="6000" b="1" dirty="0">
                <a:latin typeface="Agency FB" panose="020B0503020202020204" pitchFamily="34" charset="0"/>
              </a:rPr>
              <a:t>THANK YOU</a:t>
            </a:r>
          </a:p>
        </p:txBody>
      </p:sp>
      <p:pic>
        <p:nvPicPr>
          <p:cNvPr id="13" name="Picture 12">
            <a:extLst>
              <a:ext uri="{FF2B5EF4-FFF2-40B4-BE49-F238E27FC236}">
                <a16:creationId xmlns:a16="http://schemas.microsoft.com/office/drawing/2014/main" id="{1B266733-C70C-0724-6DEB-63437FAD4D14}"/>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735734" y="-91884"/>
            <a:ext cx="1456266" cy="1456266"/>
          </a:xfrm>
          <a:prstGeom prst="rect">
            <a:avLst/>
          </a:prstGeom>
        </p:spPr>
      </p:pic>
    </p:spTree>
    <p:extLst>
      <p:ext uri="{BB962C8B-B14F-4D97-AF65-F5344CB8AC3E}">
        <p14:creationId xmlns:p14="http://schemas.microsoft.com/office/powerpoint/2010/main" val="583854182"/>
      </p:ext>
    </p:extLst>
  </p:cSld>
  <p:clrMapOvr>
    <a:overrideClrMapping bg1="dk1" tx1="lt1" bg2="dk2" tx2="lt2" accent1="accent1" accent2="accent2" accent3="accent3" accent4="accent4" accent5="accent5" accent6="accent6" hlink="hlink" folHlink="folHlink"/>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Override1.xml><?xml version="1.0" encoding="utf-8"?>
<a:themeOverride xmlns:a="http://schemas.openxmlformats.org/drawingml/2006/main">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themeOverride>
</file>

<file path=ppt/theme/themeOverride2.xml><?xml version="1.0" encoding="utf-8"?>
<a:themeOverride xmlns:a="http://schemas.openxmlformats.org/drawingml/2006/main">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themeOverride>
</file>

<file path=ppt/theme/themeOverride3.xml><?xml version="1.0" encoding="utf-8"?>
<a:themeOverride xmlns:a="http://schemas.openxmlformats.org/drawingml/2006/main">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themeOverride>
</file>

<file path=ppt/theme/themeOverride4.xml><?xml version="1.0" encoding="utf-8"?>
<a:themeOverride xmlns:a="http://schemas.openxmlformats.org/drawingml/2006/main">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themeOverride>
</file>

<file path=ppt/theme/themeOverride5.xml><?xml version="1.0" encoding="utf-8"?>
<a:themeOverride xmlns:a="http://schemas.openxmlformats.org/drawingml/2006/main">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themeOverride>
</file>

<file path=ppt/theme/themeOverride6.xml><?xml version="1.0" encoding="utf-8"?>
<a:themeOverride xmlns:a="http://schemas.openxmlformats.org/drawingml/2006/main">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themeOverride>
</file>

<file path=ppt/theme/themeOverride7.xml><?xml version="1.0" encoding="utf-8"?>
<a:themeOverride xmlns:a="http://schemas.openxmlformats.org/drawingml/2006/main">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themeOverride>
</file>

<file path=ppt/theme/themeOverride8.xml><?xml version="1.0" encoding="utf-8"?>
<a:themeOverride xmlns:a="http://schemas.openxmlformats.org/drawingml/2006/main">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themeOverride>
</file>

<file path=ppt/theme/themeOverride9.xml><?xml version="1.0" encoding="utf-8"?>
<a:themeOverride xmlns:a="http://schemas.openxmlformats.org/drawingml/2006/main">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themeOverride>
</file>

<file path=ppt/theme/themeOverride10.xml><?xml version="1.0" encoding="utf-8"?>
<a:themeOverride xmlns:a="http://schemas.openxmlformats.org/drawingml/2006/main">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themeOverride>
</file>

<file path=ppt/theme/themeOverride11.xml><?xml version="1.0" encoding="utf-8"?>
<a:themeOverride xmlns:a="http://schemas.openxmlformats.org/drawingml/2006/main">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themeOverride>
</file>

<file path=ppt/theme/themeOverride12.xml><?xml version="1.0" encoding="utf-8"?>
<a:themeOverride xmlns:a="http://schemas.openxmlformats.org/drawingml/2006/main">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themeOverride>
</file>

<file path=ppt/theme/themeOverride13.xml><?xml version="1.0" encoding="utf-8"?>
<a:themeOverride xmlns:a="http://schemas.openxmlformats.org/drawingml/2006/main">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themeOverride>
</file>

<file path=ppt/theme/themeOverride14.xml><?xml version="1.0" encoding="utf-8"?>
<a:themeOverride xmlns:a="http://schemas.openxmlformats.org/drawingml/2006/main">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themeOverride>
</file>

<file path=ppt/theme/themeOverride15.xml><?xml version="1.0" encoding="utf-8"?>
<a:themeOverride xmlns:a="http://schemas.openxmlformats.org/drawingml/2006/main">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themeOverride>
</file>

<file path=docProps/app.xml><?xml version="1.0" encoding="utf-8"?>
<Properties xmlns="http://schemas.openxmlformats.org/officeDocument/2006/extended-properties" xmlns:vt="http://schemas.openxmlformats.org/officeDocument/2006/docPropsVTypes">
  <Template/>
  <TotalTime>154</TotalTime>
  <Words>1412</Words>
  <Application>Microsoft Office PowerPoint</Application>
  <PresentationFormat>Widescreen</PresentationFormat>
  <Paragraphs>84</Paragraphs>
  <Slides>16</Slides>
  <Notes>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16</vt:i4>
      </vt:variant>
    </vt:vector>
  </HeadingPairs>
  <TitlesOfParts>
    <vt:vector size="21" baseType="lpstr">
      <vt:lpstr>Agency FB</vt:lpstr>
      <vt:lpstr>Arial</vt:lpstr>
      <vt:lpstr>Calibri</vt:lpstr>
      <vt:lpstr>Calibri Light</vt:lpstr>
      <vt:lpstr>Office Theme</vt:lpstr>
      <vt:lpstr>Bank Customer Churn Analysis</vt:lpstr>
      <vt:lpstr>   Problem Statement  </vt:lpstr>
      <vt:lpstr>Dataset Overview</vt:lpstr>
      <vt:lpstr>Data Description</vt:lpstr>
      <vt:lpstr>Key Metrics at a Glance </vt:lpstr>
      <vt:lpstr>Churn Trend Over Time</vt:lpstr>
      <vt:lpstr>Geographic Risk</vt:lpstr>
      <vt:lpstr>Who Is Most Likely to Churn?</vt:lpstr>
      <vt:lpstr>Credit Card Ownership: No Impact on Retention</vt:lpstr>
      <vt:lpstr>Highest-Risk Segment</vt:lpstr>
      <vt:lpstr>DASHBOARD - Customer Demographics</vt:lpstr>
      <vt:lpstr>DASHBOARD - Product Engagement</vt:lpstr>
      <vt:lpstr>DASHBOARD - Churn Analysis</vt:lpstr>
      <vt:lpstr>CONCLUSION</vt:lpstr>
      <vt:lpstr>RECOMMENDATIONS</vt:lpstr>
      <vt:lpstr>THANK YOU</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Ashutosh Giri</dc:creator>
  <cp:lastModifiedBy>Ashutosh Giri</cp:lastModifiedBy>
  <cp:revision>1</cp:revision>
  <dcterms:created xsi:type="dcterms:W3CDTF">2026-09-22T10:33:16Z</dcterms:created>
  <dcterms:modified xsi:type="dcterms:W3CDTF">2026-10-14T09:15:19Z</dcterms:modified>
</cp:coreProperties>
</file>